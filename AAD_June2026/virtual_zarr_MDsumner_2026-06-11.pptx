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7" autoAdjust="0"/>
    <p:restoredTop sz="86429" autoAdjust="0"/>
  </p:normalViewPr>
  <p:slideViewPr>
    <p:cSldViewPr snapToGrid="0" snapToObjects="1">
      <p:cViewPr varScale="1">
        <p:scale>
          <a:sx n="121" d="100"/>
          <a:sy n="121" d="100"/>
        </p:scale>
        <p:origin x="108" y="3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608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 </a:t>
            </a:r>
            <a:r>
              <a:rPr lang="en-US" dirty="0"/>
              <a:t>Zarr is, why chunks matter, and the work bridging everything-was-Python to R and GDAL. Start by saying: most of our data lives in HDF5/NetCDF files on disk or in the cloud. Zarr is the evolution of that idea.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three </a:t>
            </a:r>
            <a:r>
              <a:rPr lang="en-US" dirty="0"/>
              <a:t>headlines from the past two weeks. NWS CIRRUS: Icechunk adopted as core format for US national weather service operational data. Low Latency ERA5: global reanalysis on the Earthmover marketplace. 'Old format, no problem': GOES-16 archive virtualized as Virtual Zarr without copying data. This is the momentum. Zarr and Icechunk are consolidating into production infrastructure — and almost all of it assumes you're running Python.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Zarr is the modern format for multi-dimensional scientific arrays. The key idea: instead of one monolithic file, data is split into chunks — independent tiles. A query for one time-step of one depth range fetches only 2-3 chunks, not the whole archive. This is why it works so well on cloud object stores.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Virtualization means building an index of where each chunk lives — its file path, byte offset, and size. The original HDF5/NetCDF files stay untouched. We build a Parquet table of references. Tools like xarray, zarr-python then read this as if it were a native Zarr store. This is the kerchunk / VirtualiZarr approach. blocklist does this from R using GDAL + rhdf5.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VRT is the key idea that makes blocklist possible. gdal mdim mosaic builds a single virtual array over all HDF5 files (e.g., 16 years of BRAN2023 daily ocean data). rhdf5 then iterates over the physical HDF5 chunks to get byte offsets. These are joined to give chunk references that xarray/zarr-python can use as a native Zarr store. Importantly, VRT allows intermediate forms — you're not forced to go all the way to full virtualization.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ecosystem built kerchunk and VirtualiZarr, which are excellent. But Icechunk — the next-generation transactional store — is heavily Python/Rust-native and narrows interoperability. blocklist, zaro, and the new gdal mdim get-refs CLI subcommand bring this workflow to R and GDAL. Concrete result: BRAN2023 ocean reanalysis — 11 variables, 16 years of daily data — is now virtualized on Pawsey Acacia and accessible from R without downloading anything.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no data movement — data stays where it lives. The four stores we're actually working with: BRAN2023 ocean reanalysis (done), GHRSST SST (in progress), NSIDC-0803 sea ice, and altimetry which is already native Zarr. Right column: partial reads — fetch only what you need; interoperable — same reference files work in Python, R, and GDAL; intermediate forms — VRT means you don't have to go all the way to full virtualization.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diversity </a:t>
            </a:r>
            <a:r>
              <a:rPr lang="en-US" dirty="0"/>
              <a:t>of computing environments at AAD means no single tool or pipeline fits everyone</a:t>
            </a:r>
            <a:r>
              <a:rPr lang="en-US"/>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303520" y="274320"/>
            <a:ext cx="384048" cy="329184"/>
          </a:xfrm>
          <a:prstGeom prst="roundRect">
            <a:avLst>
              <a:gd name="adj" fmla="val 11111"/>
            </a:avLst>
          </a:prstGeom>
          <a:solidFill>
            <a:srgbClr val="132038"/>
          </a:solidFill>
          <a:ln w="10160">
            <a:solidFill>
              <a:srgbClr val="1E3A5F"/>
            </a:solidFill>
            <a:prstDash val="solid"/>
          </a:ln>
        </p:spPr>
      </p:sp>
      <p:sp>
        <p:nvSpPr>
          <p:cNvPr id="3" name="Shape 1"/>
          <p:cNvSpPr/>
          <p:nvPr/>
        </p:nvSpPr>
        <p:spPr>
          <a:xfrm>
            <a:off x="5742432" y="274320"/>
            <a:ext cx="384048" cy="329184"/>
          </a:xfrm>
          <a:prstGeom prst="roundRect">
            <a:avLst>
              <a:gd name="adj" fmla="val 11111"/>
            </a:avLst>
          </a:prstGeom>
          <a:solidFill>
            <a:srgbClr val="132038"/>
          </a:solidFill>
          <a:ln w="10160">
            <a:solidFill>
              <a:srgbClr val="1E3A5F"/>
            </a:solidFill>
            <a:prstDash val="solid"/>
          </a:ln>
        </p:spPr>
      </p:sp>
      <p:sp>
        <p:nvSpPr>
          <p:cNvPr id="4" name="Shape 2"/>
          <p:cNvSpPr/>
          <p:nvPr/>
        </p:nvSpPr>
        <p:spPr>
          <a:xfrm>
            <a:off x="6181344" y="274320"/>
            <a:ext cx="384048" cy="329184"/>
          </a:xfrm>
          <a:prstGeom prst="roundRect">
            <a:avLst>
              <a:gd name="adj" fmla="val 11111"/>
            </a:avLst>
          </a:prstGeom>
          <a:solidFill>
            <a:srgbClr val="132038"/>
          </a:solidFill>
          <a:ln w="10160">
            <a:solidFill>
              <a:srgbClr val="1E3A5F"/>
            </a:solidFill>
            <a:prstDash val="solid"/>
          </a:ln>
        </p:spPr>
      </p:sp>
      <p:sp>
        <p:nvSpPr>
          <p:cNvPr id="5" name="Shape 3"/>
          <p:cNvSpPr/>
          <p:nvPr/>
        </p:nvSpPr>
        <p:spPr>
          <a:xfrm>
            <a:off x="6620256" y="274320"/>
            <a:ext cx="384048" cy="329184"/>
          </a:xfrm>
          <a:prstGeom prst="roundRect">
            <a:avLst>
              <a:gd name="adj" fmla="val 11111"/>
            </a:avLst>
          </a:prstGeom>
          <a:solidFill>
            <a:srgbClr val="132038"/>
          </a:solidFill>
          <a:ln w="10160">
            <a:solidFill>
              <a:srgbClr val="1E3A5F"/>
            </a:solidFill>
            <a:prstDash val="solid"/>
          </a:ln>
        </p:spPr>
      </p:sp>
      <p:sp>
        <p:nvSpPr>
          <p:cNvPr id="6" name="Shape 4"/>
          <p:cNvSpPr/>
          <p:nvPr/>
        </p:nvSpPr>
        <p:spPr>
          <a:xfrm>
            <a:off x="7059168" y="274320"/>
            <a:ext cx="384048" cy="329184"/>
          </a:xfrm>
          <a:prstGeom prst="roundRect">
            <a:avLst>
              <a:gd name="adj" fmla="val 11111"/>
            </a:avLst>
          </a:prstGeom>
          <a:solidFill>
            <a:srgbClr val="132038"/>
          </a:solidFill>
          <a:ln w="10160">
            <a:solidFill>
              <a:srgbClr val="1E3A5F"/>
            </a:solidFill>
            <a:prstDash val="solid"/>
          </a:ln>
        </p:spPr>
      </p:sp>
      <p:sp>
        <p:nvSpPr>
          <p:cNvPr id="7" name="Shape 5"/>
          <p:cNvSpPr/>
          <p:nvPr/>
        </p:nvSpPr>
        <p:spPr>
          <a:xfrm>
            <a:off x="7498080" y="274320"/>
            <a:ext cx="384048" cy="329184"/>
          </a:xfrm>
          <a:prstGeom prst="roundRect">
            <a:avLst>
              <a:gd name="adj" fmla="val 11111"/>
            </a:avLst>
          </a:prstGeom>
          <a:solidFill>
            <a:srgbClr val="132038"/>
          </a:solidFill>
          <a:ln w="10160">
            <a:solidFill>
              <a:srgbClr val="1E3A5F"/>
            </a:solidFill>
            <a:prstDash val="solid"/>
          </a:ln>
        </p:spPr>
      </p:sp>
      <p:sp>
        <p:nvSpPr>
          <p:cNvPr id="8" name="Shape 6"/>
          <p:cNvSpPr/>
          <p:nvPr/>
        </p:nvSpPr>
        <p:spPr>
          <a:xfrm>
            <a:off x="7936992" y="274320"/>
            <a:ext cx="384048" cy="329184"/>
          </a:xfrm>
          <a:prstGeom prst="roundRect">
            <a:avLst>
              <a:gd name="adj" fmla="val 11111"/>
            </a:avLst>
          </a:prstGeom>
          <a:solidFill>
            <a:srgbClr val="132038"/>
          </a:solidFill>
          <a:ln w="10160">
            <a:solidFill>
              <a:srgbClr val="1E3A5F"/>
            </a:solidFill>
            <a:prstDash val="solid"/>
          </a:ln>
        </p:spPr>
      </p:sp>
      <p:sp>
        <p:nvSpPr>
          <p:cNvPr id="9" name="Shape 7"/>
          <p:cNvSpPr/>
          <p:nvPr/>
        </p:nvSpPr>
        <p:spPr>
          <a:xfrm>
            <a:off x="8375904" y="274320"/>
            <a:ext cx="384048" cy="329184"/>
          </a:xfrm>
          <a:prstGeom prst="roundRect">
            <a:avLst>
              <a:gd name="adj" fmla="val 11111"/>
            </a:avLst>
          </a:prstGeom>
          <a:solidFill>
            <a:srgbClr val="132038"/>
          </a:solidFill>
          <a:ln w="10160">
            <a:solidFill>
              <a:srgbClr val="1E3A5F"/>
            </a:solidFill>
            <a:prstDash val="solid"/>
          </a:ln>
        </p:spPr>
      </p:sp>
      <p:sp>
        <p:nvSpPr>
          <p:cNvPr id="10" name="Shape 8"/>
          <p:cNvSpPr/>
          <p:nvPr/>
        </p:nvSpPr>
        <p:spPr>
          <a:xfrm>
            <a:off x="5303520" y="658368"/>
            <a:ext cx="384048" cy="329184"/>
          </a:xfrm>
          <a:prstGeom prst="roundRect">
            <a:avLst>
              <a:gd name="adj" fmla="val 11111"/>
            </a:avLst>
          </a:prstGeom>
          <a:solidFill>
            <a:srgbClr val="132038"/>
          </a:solidFill>
          <a:ln w="10160">
            <a:solidFill>
              <a:srgbClr val="1E3A5F"/>
            </a:solidFill>
            <a:prstDash val="solid"/>
          </a:ln>
        </p:spPr>
      </p:sp>
      <p:sp>
        <p:nvSpPr>
          <p:cNvPr id="11" name="Shape 9"/>
          <p:cNvSpPr/>
          <p:nvPr/>
        </p:nvSpPr>
        <p:spPr>
          <a:xfrm>
            <a:off x="5742432" y="658368"/>
            <a:ext cx="384048" cy="329184"/>
          </a:xfrm>
          <a:prstGeom prst="roundRect">
            <a:avLst>
              <a:gd name="adj" fmla="val 11111"/>
            </a:avLst>
          </a:prstGeom>
          <a:solidFill>
            <a:srgbClr val="132038"/>
          </a:solidFill>
          <a:ln w="10160">
            <a:solidFill>
              <a:srgbClr val="1E3A5F"/>
            </a:solidFill>
            <a:prstDash val="solid"/>
          </a:ln>
        </p:spPr>
      </p:sp>
      <p:sp>
        <p:nvSpPr>
          <p:cNvPr id="12" name="Shape 10"/>
          <p:cNvSpPr/>
          <p:nvPr/>
        </p:nvSpPr>
        <p:spPr>
          <a:xfrm>
            <a:off x="6181344" y="658368"/>
            <a:ext cx="384048" cy="329184"/>
          </a:xfrm>
          <a:prstGeom prst="roundRect">
            <a:avLst>
              <a:gd name="adj" fmla="val 11111"/>
            </a:avLst>
          </a:prstGeom>
          <a:solidFill>
            <a:srgbClr val="0E7490"/>
          </a:solidFill>
          <a:ln w="19050">
            <a:solidFill>
              <a:srgbClr val="22D3EE"/>
            </a:solidFill>
            <a:prstDash val="solid"/>
          </a:ln>
        </p:spPr>
      </p:sp>
      <p:sp>
        <p:nvSpPr>
          <p:cNvPr id="13" name="Shape 11"/>
          <p:cNvSpPr/>
          <p:nvPr/>
        </p:nvSpPr>
        <p:spPr>
          <a:xfrm>
            <a:off x="6620256" y="658368"/>
            <a:ext cx="384048" cy="329184"/>
          </a:xfrm>
          <a:prstGeom prst="roundRect">
            <a:avLst>
              <a:gd name="adj" fmla="val 11111"/>
            </a:avLst>
          </a:prstGeom>
          <a:solidFill>
            <a:srgbClr val="0E7490"/>
          </a:solidFill>
          <a:ln w="19050">
            <a:solidFill>
              <a:srgbClr val="22D3EE"/>
            </a:solidFill>
            <a:prstDash val="solid"/>
          </a:ln>
        </p:spPr>
      </p:sp>
      <p:sp>
        <p:nvSpPr>
          <p:cNvPr id="14" name="Shape 12"/>
          <p:cNvSpPr/>
          <p:nvPr/>
        </p:nvSpPr>
        <p:spPr>
          <a:xfrm>
            <a:off x="7059168" y="658368"/>
            <a:ext cx="384048" cy="329184"/>
          </a:xfrm>
          <a:prstGeom prst="roundRect">
            <a:avLst>
              <a:gd name="adj" fmla="val 11111"/>
            </a:avLst>
          </a:prstGeom>
          <a:solidFill>
            <a:srgbClr val="0E7490"/>
          </a:solidFill>
          <a:ln w="19050">
            <a:solidFill>
              <a:srgbClr val="22D3EE"/>
            </a:solidFill>
            <a:prstDash val="solid"/>
          </a:ln>
        </p:spPr>
      </p:sp>
      <p:sp>
        <p:nvSpPr>
          <p:cNvPr id="15" name="Shape 13"/>
          <p:cNvSpPr/>
          <p:nvPr/>
        </p:nvSpPr>
        <p:spPr>
          <a:xfrm>
            <a:off x="7498080" y="658368"/>
            <a:ext cx="384048" cy="329184"/>
          </a:xfrm>
          <a:prstGeom prst="roundRect">
            <a:avLst>
              <a:gd name="adj" fmla="val 11111"/>
            </a:avLst>
          </a:prstGeom>
          <a:solidFill>
            <a:srgbClr val="132038"/>
          </a:solidFill>
          <a:ln w="10160">
            <a:solidFill>
              <a:srgbClr val="1E3A5F"/>
            </a:solidFill>
            <a:prstDash val="solid"/>
          </a:ln>
        </p:spPr>
      </p:sp>
      <p:sp>
        <p:nvSpPr>
          <p:cNvPr id="16" name="Shape 14"/>
          <p:cNvSpPr/>
          <p:nvPr/>
        </p:nvSpPr>
        <p:spPr>
          <a:xfrm>
            <a:off x="7936992" y="658368"/>
            <a:ext cx="384048" cy="329184"/>
          </a:xfrm>
          <a:prstGeom prst="roundRect">
            <a:avLst>
              <a:gd name="adj" fmla="val 11111"/>
            </a:avLst>
          </a:prstGeom>
          <a:solidFill>
            <a:srgbClr val="132038"/>
          </a:solidFill>
          <a:ln w="10160">
            <a:solidFill>
              <a:srgbClr val="1E3A5F"/>
            </a:solidFill>
            <a:prstDash val="solid"/>
          </a:ln>
        </p:spPr>
      </p:sp>
      <p:sp>
        <p:nvSpPr>
          <p:cNvPr id="17" name="Shape 15"/>
          <p:cNvSpPr/>
          <p:nvPr/>
        </p:nvSpPr>
        <p:spPr>
          <a:xfrm>
            <a:off x="8375904" y="658368"/>
            <a:ext cx="384048" cy="329184"/>
          </a:xfrm>
          <a:prstGeom prst="roundRect">
            <a:avLst>
              <a:gd name="adj" fmla="val 11111"/>
            </a:avLst>
          </a:prstGeom>
          <a:solidFill>
            <a:srgbClr val="132038"/>
          </a:solidFill>
          <a:ln w="10160">
            <a:solidFill>
              <a:srgbClr val="1E3A5F"/>
            </a:solidFill>
            <a:prstDash val="solid"/>
          </a:ln>
        </p:spPr>
      </p:sp>
      <p:sp>
        <p:nvSpPr>
          <p:cNvPr id="18" name="Shape 16"/>
          <p:cNvSpPr/>
          <p:nvPr/>
        </p:nvSpPr>
        <p:spPr>
          <a:xfrm>
            <a:off x="5303520" y="1042416"/>
            <a:ext cx="384048" cy="329184"/>
          </a:xfrm>
          <a:prstGeom prst="roundRect">
            <a:avLst>
              <a:gd name="adj" fmla="val 11111"/>
            </a:avLst>
          </a:prstGeom>
          <a:solidFill>
            <a:srgbClr val="132038"/>
          </a:solidFill>
          <a:ln w="10160">
            <a:solidFill>
              <a:srgbClr val="1E3A5F"/>
            </a:solidFill>
            <a:prstDash val="solid"/>
          </a:ln>
        </p:spPr>
      </p:sp>
      <p:sp>
        <p:nvSpPr>
          <p:cNvPr id="19" name="Shape 17"/>
          <p:cNvSpPr/>
          <p:nvPr/>
        </p:nvSpPr>
        <p:spPr>
          <a:xfrm>
            <a:off x="5742432" y="1042416"/>
            <a:ext cx="384048" cy="329184"/>
          </a:xfrm>
          <a:prstGeom prst="roundRect">
            <a:avLst>
              <a:gd name="adj" fmla="val 11111"/>
            </a:avLst>
          </a:prstGeom>
          <a:solidFill>
            <a:srgbClr val="132038"/>
          </a:solidFill>
          <a:ln w="10160">
            <a:solidFill>
              <a:srgbClr val="1E3A5F"/>
            </a:solidFill>
            <a:prstDash val="solid"/>
          </a:ln>
        </p:spPr>
      </p:sp>
      <p:sp>
        <p:nvSpPr>
          <p:cNvPr id="20" name="Shape 18"/>
          <p:cNvSpPr/>
          <p:nvPr/>
        </p:nvSpPr>
        <p:spPr>
          <a:xfrm>
            <a:off x="6181344" y="1042416"/>
            <a:ext cx="384048" cy="329184"/>
          </a:xfrm>
          <a:prstGeom prst="roundRect">
            <a:avLst>
              <a:gd name="adj" fmla="val 11111"/>
            </a:avLst>
          </a:prstGeom>
          <a:solidFill>
            <a:srgbClr val="0E7490"/>
          </a:solidFill>
          <a:ln w="19050">
            <a:solidFill>
              <a:srgbClr val="22D3EE"/>
            </a:solidFill>
            <a:prstDash val="solid"/>
          </a:ln>
        </p:spPr>
      </p:sp>
      <p:sp>
        <p:nvSpPr>
          <p:cNvPr id="21" name="Shape 19"/>
          <p:cNvSpPr/>
          <p:nvPr/>
        </p:nvSpPr>
        <p:spPr>
          <a:xfrm>
            <a:off x="6620256" y="1042416"/>
            <a:ext cx="384048" cy="329184"/>
          </a:xfrm>
          <a:prstGeom prst="roundRect">
            <a:avLst>
              <a:gd name="adj" fmla="val 11111"/>
            </a:avLst>
          </a:prstGeom>
          <a:solidFill>
            <a:srgbClr val="0E7490"/>
          </a:solidFill>
          <a:ln w="19050">
            <a:solidFill>
              <a:srgbClr val="22D3EE"/>
            </a:solidFill>
            <a:prstDash val="solid"/>
          </a:ln>
        </p:spPr>
      </p:sp>
      <p:sp>
        <p:nvSpPr>
          <p:cNvPr id="22" name="Shape 20"/>
          <p:cNvSpPr/>
          <p:nvPr/>
        </p:nvSpPr>
        <p:spPr>
          <a:xfrm>
            <a:off x="7059168" y="1042416"/>
            <a:ext cx="384048" cy="329184"/>
          </a:xfrm>
          <a:prstGeom prst="roundRect">
            <a:avLst>
              <a:gd name="adj" fmla="val 11111"/>
            </a:avLst>
          </a:prstGeom>
          <a:solidFill>
            <a:srgbClr val="0E7490"/>
          </a:solidFill>
          <a:ln w="19050">
            <a:solidFill>
              <a:srgbClr val="22D3EE"/>
            </a:solidFill>
            <a:prstDash val="solid"/>
          </a:ln>
        </p:spPr>
      </p:sp>
      <p:sp>
        <p:nvSpPr>
          <p:cNvPr id="23" name="Shape 21"/>
          <p:cNvSpPr/>
          <p:nvPr/>
        </p:nvSpPr>
        <p:spPr>
          <a:xfrm>
            <a:off x="7498080" y="1042416"/>
            <a:ext cx="384048" cy="329184"/>
          </a:xfrm>
          <a:prstGeom prst="roundRect">
            <a:avLst>
              <a:gd name="adj" fmla="val 11111"/>
            </a:avLst>
          </a:prstGeom>
          <a:solidFill>
            <a:srgbClr val="132038"/>
          </a:solidFill>
          <a:ln w="10160">
            <a:solidFill>
              <a:srgbClr val="1E3A5F"/>
            </a:solidFill>
            <a:prstDash val="solid"/>
          </a:ln>
        </p:spPr>
      </p:sp>
      <p:sp>
        <p:nvSpPr>
          <p:cNvPr id="24" name="Shape 22"/>
          <p:cNvSpPr/>
          <p:nvPr/>
        </p:nvSpPr>
        <p:spPr>
          <a:xfrm>
            <a:off x="7936992" y="1042416"/>
            <a:ext cx="384048" cy="329184"/>
          </a:xfrm>
          <a:prstGeom prst="roundRect">
            <a:avLst>
              <a:gd name="adj" fmla="val 11111"/>
            </a:avLst>
          </a:prstGeom>
          <a:solidFill>
            <a:srgbClr val="132038"/>
          </a:solidFill>
          <a:ln w="10160">
            <a:solidFill>
              <a:srgbClr val="1E3A5F"/>
            </a:solidFill>
            <a:prstDash val="solid"/>
          </a:ln>
        </p:spPr>
      </p:sp>
      <p:sp>
        <p:nvSpPr>
          <p:cNvPr id="25" name="Shape 23"/>
          <p:cNvSpPr/>
          <p:nvPr/>
        </p:nvSpPr>
        <p:spPr>
          <a:xfrm>
            <a:off x="8375904" y="1042416"/>
            <a:ext cx="384048" cy="329184"/>
          </a:xfrm>
          <a:prstGeom prst="roundRect">
            <a:avLst>
              <a:gd name="adj" fmla="val 11111"/>
            </a:avLst>
          </a:prstGeom>
          <a:solidFill>
            <a:srgbClr val="132038"/>
          </a:solidFill>
          <a:ln w="10160">
            <a:solidFill>
              <a:srgbClr val="1E3A5F"/>
            </a:solidFill>
            <a:prstDash val="solid"/>
          </a:ln>
        </p:spPr>
      </p:sp>
      <p:sp>
        <p:nvSpPr>
          <p:cNvPr id="26" name="Shape 24"/>
          <p:cNvSpPr/>
          <p:nvPr/>
        </p:nvSpPr>
        <p:spPr>
          <a:xfrm>
            <a:off x="5303520" y="1426464"/>
            <a:ext cx="384048" cy="329184"/>
          </a:xfrm>
          <a:prstGeom prst="roundRect">
            <a:avLst>
              <a:gd name="adj" fmla="val 11111"/>
            </a:avLst>
          </a:prstGeom>
          <a:solidFill>
            <a:srgbClr val="132038"/>
          </a:solidFill>
          <a:ln w="10160">
            <a:solidFill>
              <a:srgbClr val="1E3A5F"/>
            </a:solidFill>
            <a:prstDash val="solid"/>
          </a:ln>
        </p:spPr>
      </p:sp>
      <p:sp>
        <p:nvSpPr>
          <p:cNvPr id="27" name="Shape 25"/>
          <p:cNvSpPr/>
          <p:nvPr/>
        </p:nvSpPr>
        <p:spPr>
          <a:xfrm>
            <a:off x="5742432" y="1426464"/>
            <a:ext cx="384048" cy="329184"/>
          </a:xfrm>
          <a:prstGeom prst="roundRect">
            <a:avLst>
              <a:gd name="adj" fmla="val 11111"/>
            </a:avLst>
          </a:prstGeom>
          <a:solidFill>
            <a:srgbClr val="132038"/>
          </a:solidFill>
          <a:ln w="10160">
            <a:solidFill>
              <a:srgbClr val="1E3A5F"/>
            </a:solidFill>
            <a:prstDash val="solid"/>
          </a:ln>
        </p:spPr>
      </p:sp>
      <p:sp>
        <p:nvSpPr>
          <p:cNvPr id="28" name="Shape 26"/>
          <p:cNvSpPr/>
          <p:nvPr/>
        </p:nvSpPr>
        <p:spPr>
          <a:xfrm>
            <a:off x="6181344" y="1426464"/>
            <a:ext cx="384048" cy="329184"/>
          </a:xfrm>
          <a:prstGeom prst="roundRect">
            <a:avLst>
              <a:gd name="adj" fmla="val 11111"/>
            </a:avLst>
          </a:prstGeom>
          <a:solidFill>
            <a:srgbClr val="132038"/>
          </a:solidFill>
          <a:ln w="10160">
            <a:solidFill>
              <a:srgbClr val="1E3A5F"/>
            </a:solidFill>
            <a:prstDash val="solid"/>
          </a:ln>
        </p:spPr>
      </p:sp>
      <p:sp>
        <p:nvSpPr>
          <p:cNvPr id="29" name="Shape 27"/>
          <p:cNvSpPr/>
          <p:nvPr/>
        </p:nvSpPr>
        <p:spPr>
          <a:xfrm>
            <a:off x="6620256" y="1426464"/>
            <a:ext cx="384048" cy="329184"/>
          </a:xfrm>
          <a:prstGeom prst="roundRect">
            <a:avLst>
              <a:gd name="adj" fmla="val 11111"/>
            </a:avLst>
          </a:prstGeom>
          <a:solidFill>
            <a:srgbClr val="132038"/>
          </a:solidFill>
          <a:ln w="10160">
            <a:solidFill>
              <a:srgbClr val="1E3A5F"/>
            </a:solidFill>
            <a:prstDash val="solid"/>
          </a:ln>
        </p:spPr>
      </p:sp>
      <p:sp>
        <p:nvSpPr>
          <p:cNvPr id="30" name="Shape 28"/>
          <p:cNvSpPr/>
          <p:nvPr/>
        </p:nvSpPr>
        <p:spPr>
          <a:xfrm>
            <a:off x="7059168" y="1426464"/>
            <a:ext cx="384048" cy="329184"/>
          </a:xfrm>
          <a:prstGeom prst="roundRect">
            <a:avLst>
              <a:gd name="adj" fmla="val 11111"/>
            </a:avLst>
          </a:prstGeom>
          <a:solidFill>
            <a:srgbClr val="132038"/>
          </a:solidFill>
          <a:ln w="10160">
            <a:solidFill>
              <a:srgbClr val="1E3A5F"/>
            </a:solidFill>
            <a:prstDash val="solid"/>
          </a:ln>
        </p:spPr>
      </p:sp>
      <p:sp>
        <p:nvSpPr>
          <p:cNvPr id="31" name="Shape 29"/>
          <p:cNvSpPr/>
          <p:nvPr/>
        </p:nvSpPr>
        <p:spPr>
          <a:xfrm>
            <a:off x="7498080" y="1426464"/>
            <a:ext cx="384048" cy="329184"/>
          </a:xfrm>
          <a:prstGeom prst="roundRect">
            <a:avLst>
              <a:gd name="adj" fmla="val 11111"/>
            </a:avLst>
          </a:prstGeom>
          <a:solidFill>
            <a:srgbClr val="132038"/>
          </a:solidFill>
          <a:ln w="10160">
            <a:solidFill>
              <a:srgbClr val="1E3A5F"/>
            </a:solidFill>
            <a:prstDash val="solid"/>
          </a:ln>
        </p:spPr>
      </p:sp>
      <p:sp>
        <p:nvSpPr>
          <p:cNvPr id="32" name="Shape 30"/>
          <p:cNvSpPr/>
          <p:nvPr/>
        </p:nvSpPr>
        <p:spPr>
          <a:xfrm>
            <a:off x="7936992" y="1426464"/>
            <a:ext cx="384048" cy="329184"/>
          </a:xfrm>
          <a:prstGeom prst="roundRect">
            <a:avLst>
              <a:gd name="adj" fmla="val 11111"/>
            </a:avLst>
          </a:prstGeom>
          <a:solidFill>
            <a:srgbClr val="132038"/>
          </a:solidFill>
          <a:ln w="10160">
            <a:solidFill>
              <a:srgbClr val="1E3A5F"/>
            </a:solidFill>
            <a:prstDash val="solid"/>
          </a:ln>
        </p:spPr>
      </p:sp>
      <p:sp>
        <p:nvSpPr>
          <p:cNvPr id="33" name="Shape 31"/>
          <p:cNvSpPr/>
          <p:nvPr/>
        </p:nvSpPr>
        <p:spPr>
          <a:xfrm>
            <a:off x="8375904" y="1426464"/>
            <a:ext cx="384048" cy="329184"/>
          </a:xfrm>
          <a:prstGeom prst="roundRect">
            <a:avLst>
              <a:gd name="adj" fmla="val 11111"/>
            </a:avLst>
          </a:prstGeom>
          <a:solidFill>
            <a:srgbClr val="132038"/>
          </a:solidFill>
          <a:ln w="10160">
            <a:solidFill>
              <a:srgbClr val="1E3A5F"/>
            </a:solidFill>
            <a:prstDash val="solid"/>
          </a:ln>
        </p:spPr>
      </p:sp>
      <p:sp>
        <p:nvSpPr>
          <p:cNvPr id="34" name="Shape 32"/>
          <p:cNvSpPr/>
          <p:nvPr/>
        </p:nvSpPr>
        <p:spPr>
          <a:xfrm>
            <a:off x="5303520" y="1810512"/>
            <a:ext cx="384048" cy="329184"/>
          </a:xfrm>
          <a:prstGeom prst="roundRect">
            <a:avLst>
              <a:gd name="adj" fmla="val 11111"/>
            </a:avLst>
          </a:prstGeom>
          <a:solidFill>
            <a:srgbClr val="132038"/>
          </a:solidFill>
          <a:ln w="10160">
            <a:solidFill>
              <a:srgbClr val="1E3A5F"/>
            </a:solidFill>
            <a:prstDash val="solid"/>
          </a:ln>
        </p:spPr>
      </p:sp>
      <p:sp>
        <p:nvSpPr>
          <p:cNvPr id="35" name="Shape 33"/>
          <p:cNvSpPr/>
          <p:nvPr/>
        </p:nvSpPr>
        <p:spPr>
          <a:xfrm>
            <a:off x="5742432" y="1810512"/>
            <a:ext cx="384048" cy="329184"/>
          </a:xfrm>
          <a:prstGeom prst="roundRect">
            <a:avLst>
              <a:gd name="adj" fmla="val 11111"/>
            </a:avLst>
          </a:prstGeom>
          <a:solidFill>
            <a:srgbClr val="132038"/>
          </a:solidFill>
          <a:ln w="10160">
            <a:solidFill>
              <a:srgbClr val="1E3A5F"/>
            </a:solidFill>
            <a:prstDash val="solid"/>
          </a:ln>
        </p:spPr>
      </p:sp>
      <p:sp>
        <p:nvSpPr>
          <p:cNvPr id="36" name="Shape 34"/>
          <p:cNvSpPr/>
          <p:nvPr/>
        </p:nvSpPr>
        <p:spPr>
          <a:xfrm>
            <a:off x="6181344" y="1810512"/>
            <a:ext cx="384048" cy="329184"/>
          </a:xfrm>
          <a:prstGeom prst="roundRect">
            <a:avLst>
              <a:gd name="adj" fmla="val 11111"/>
            </a:avLst>
          </a:prstGeom>
          <a:solidFill>
            <a:srgbClr val="132038"/>
          </a:solidFill>
          <a:ln w="10160">
            <a:solidFill>
              <a:srgbClr val="1E3A5F"/>
            </a:solidFill>
            <a:prstDash val="solid"/>
          </a:ln>
        </p:spPr>
      </p:sp>
      <p:sp>
        <p:nvSpPr>
          <p:cNvPr id="37" name="Shape 35"/>
          <p:cNvSpPr/>
          <p:nvPr/>
        </p:nvSpPr>
        <p:spPr>
          <a:xfrm>
            <a:off x="6620256" y="1810512"/>
            <a:ext cx="384048" cy="329184"/>
          </a:xfrm>
          <a:prstGeom prst="roundRect">
            <a:avLst>
              <a:gd name="adj" fmla="val 11111"/>
            </a:avLst>
          </a:prstGeom>
          <a:solidFill>
            <a:srgbClr val="132038"/>
          </a:solidFill>
          <a:ln w="10160">
            <a:solidFill>
              <a:srgbClr val="1E3A5F"/>
            </a:solidFill>
            <a:prstDash val="solid"/>
          </a:ln>
        </p:spPr>
      </p:sp>
      <p:sp>
        <p:nvSpPr>
          <p:cNvPr id="38" name="Shape 36"/>
          <p:cNvSpPr/>
          <p:nvPr/>
        </p:nvSpPr>
        <p:spPr>
          <a:xfrm>
            <a:off x="7059168" y="1810512"/>
            <a:ext cx="384048" cy="329184"/>
          </a:xfrm>
          <a:prstGeom prst="roundRect">
            <a:avLst>
              <a:gd name="adj" fmla="val 11111"/>
            </a:avLst>
          </a:prstGeom>
          <a:solidFill>
            <a:srgbClr val="132038"/>
          </a:solidFill>
          <a:ln w="10160">
            <a:solidFill>
              <a:srgbClr val="1E3A5F"/>
            </a:solidFill>
            <a:prstDash val="solid"/>
          </a:ln>
        </p:spPr>
      </p:sp>
      <p:sp>
        <p:nvSpPr>
          <p:cNvPr id="39" name="Shape 37"/>
          <p:cNvSpPr/>
          <p:nvPr/>
        </p:nvSpPr>
        <p:spPr>
          <a:xfrm>
            <a:off x="7498080" y="1810512"/>
            <a:ext cx="384048" cy="329184"/>
          </a:xfrm>
          <a:prstGeom prst="roundRect">
            <a:avLst>
              <a:gd name="adj" fmla="val 11111"/>
            </a:avLst>
          </a:prstGeom>
          <a:solidFill>
            <a:srgbClr val="132038"/>
          </a:solidFill>
          <a:ln w="10160">
            <a:solidFill>
              <a:srgbClr val="1E3A5F"/>
            </a:solidFill>
            <a:prstDash val="solid"/>
          </a:ln>
        </p:spPr>
      </p:sp>
      <p:sp>
        <p:nvSpPr>
          <p:cNvPr id="40" name="Shape 38"/>
          <p:cNvSpPr/>
          <p:nvPr/>
        </p:nvSpPr>
        <p:spPr>
          <a:xfrm>
            <a:off x="7936992" y="1810512"/>
            <a:ext cx="384048" cy="329184"/>
          </a:xfrm>
          <a:prstGeom prst="roundRect">
            <a:avLst>
              <a:gd name="adj" fmla="val 11111"/>
            </a:avLst>
          </a:prstGeom>
          <a:solidFill>
            <a:srgbClr val="132038"/>
          </a:solidFill>
          <a:ln w="10160">
            <a:solidFill>
              <a:srgbClr val="1E3A5F"/>
            </a:solidFill>
            <a:prstDash val="solid"/>
          </a:ln>
        </p:spPr>
      </p:sp>
      <p:sp>
        <p:nvSpPr>
          <p:cNvPr id="41" name="Shape 39"/>
          <p:cNvSpPr/>
          <p:nvPr/>
        </p:nvSpPr>
        <p:spPr>
          <a:xfrm>
            <a:off x="8375904" y="1810512"/>
            <a:ext cx="384048" cy="329184"/>
          </a:xfrm>
          <a:prstGeom prst="roundRect">
            <a:avLst>
              <a:gd name="adj" fmla="val 11111"/>
            </a:avLst>
          </a:prstGeom>
          <a:solidFill>
            <a:srgbClr val="132038"/>
          </a:solidFill>
          <a:ln w="10160">
            <a:solidFill>
              <a:srgbClr val="1E3A5F"/>
            </a:solidFill>
            <a:prstDash val="solid"/>
          </a:ln>
        </p:spPr>
      </p:sp>
      <p:sp>
        <p:nvSpPr>
          <p:cNvPr id="42" name="Text 40"/>
          <p:cNvSpPr/>
          <p:nvPr/>
        </p:nvSpPr>
        <p:spPr>
          <a:xfrm>
            <a:off x="457200" y="822960"/>
            <a:ext cx="6217920" cy="2194560"/>
          </a:xfrm>
          <a:prstGeom prst="rect">
            <a:avLst/>
          </a:prstGeom>
          <a:noFill/>
          <a:ln/>
        </p:spPr>
        <p:txBody>
          <a:bodyPr wrap="square" rtlCol="0" anchor="ctr"/>
          <a:lstStyle/>
          <a:p>
            <a:pPr marL="0" indent="0">
              <a:buNone/>
            </a:pPr>
            <a:r>
              <a:rPr lang="en-US" sz="3600" b="1" dirty="0">
                <a:solidFill>
                  <a:srgbClr val="F8FAFC"/>
                </a:solidFill>
                <a:latin typeface="Cambria" pitchFamily="34" charset="0"/>
                <a:ea typeface="Cambria" pitchFamily="34" charset="-122"/>
                <a:cs typeface="Cambria" pitchFamily="34" charset="-120"/>
              </a:rPr>
              <a:t>Modern data accessibility</a:t>
            </a:r>
            <a:endParaRPr lang="en-US" sz="3600" dirty="0"/>
          </a:p>
          <a:p>
            <a:pPr marL="0" indent="0">
              <a:buNone/>
            </a:pPr>
            <a:r>
              <a:rPr lang="en-US" sz="3600" b="1" dirty="0">
                <a:solidFill>
                  <a:srgbClr val="F8FAFC"/>
                </a:solidFill>
                <a:latin typeface="Cambria" pitchFamily="34" charset="0"/>
                <a:ea typeface="Cambria" pitchFamily="34" charset="-122"/>
                <a:cs typeface="Cambria" pitchFamily="34" charset="-120"/>
              </a:rPr>
              <a:t>and virtualization</a:t>
            </a:r>
            <a:endParaRPr lang="en-US" sz="3600" dirty="0"/>
          </a:p>
        </p:txBody>
      </p:sp>
      <p:sp>
        <p:nvSpPr>
          <p:cNvPr id="43" name="Text 41"/>
          <p:cNvSpPr/>
          <p:nvPr/>
        </p:nvSpPr>
        <p:spPr>
          <a:xfrm>
            <a:off x="457200" y="3017520"/>
            <a:ext cx="5943600" cy="1005840"/>
          </a:xfrm>
          <a:prstGeom prst="rect">
            <a:avLst/>
          </a:prstGeom>
          <a:noFill/>
          <a:ln/>
        </p:spPr>
        <p:txBody>
          <a:bodyPr wrap="square"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Cloud native: Zarr, chunks and virtualization</a:t>
            </a:r>
            <a:endParaRPr lang="en-US" sz="1800" dirty="0"/>
          </a:p>
          <a:p>
            <a:pPr marL="0" indent="0">
              <a:buNone/>
            </a:pPr>
            <a:r>
              <a:rPr lang="en-US" sz="1800" i="1" dirty="0">
                <a:solidFill>
                  <a:srgbClr val="94A3B8"/>
                </a:solidFill>
                <a:latin typeface="Calibri" pitchFamily="34" charset="0"/>
                <a:ea typeface="Calibri" pitchFamily="34" charset="-122"/>
                <a:cs typeface="Calibri" pitchFamily="34" charset="-120"/>
              </a:rPr>
              <a:t>in Python, GDAL, and R</a:t>
            </a:r>
            <a:endParaRPr lang="en-US" sz="1800" dirty="0"/>
          </a:p>
        </p:txBody>
      </p:sp>
      <p:sp>
        <p:nvSpPr>
          <p:cNvPr id="44" name="Text 42"/>
          <p:cNvSpPr/>
          <p:nvPr/>
        </p:nvSpPr>
        <p:spPr>
          <a:xfrm>
            <a:off x="457200" y="4480560"/>
            <a:ext cx="5486400" cy="45720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Michael Sumner · Australian Antarctic Division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pic>
        <p:nvPicPr>
          <p:cNvPr id="2" name="Image 0" descr="/mnt/user-data/uploads/1781057539665_image.png"/>
          <p:cNvPicPr>
            <a:picLocks noChangeAspect="1"/>
          </p:cNvPicPr>
          <p:nvPr/>
        </p:nvPicPr>
        <p:blipFill>
          <a:blip r:embed="rId3"/>
          <a:stretch>
            <a:fillRect/>
          </a:stretch>
        </p:blipFill>
        <p:spPr>
          <a:xfrm>
            <a:off x="2315376" y="137160"/>
            <a:ext cx="4513247" cy="4206240"/>
          </a:xfrm>
          <a:prstGeom prst="rect">
            <a:avLst/>
          </a:prstGeom>
        </p:spPr>
      </p:pic>
      <p:sp>
        <p:nvSpPr>
          <p:cNvPr id="3" name="Shape 0"/>
          <p:cNvSpPr/>
          <p:nvPr/>
        </p:nvSpPr>
        <p:spPr>
          <a:xfrm>
            <a:off x="0" y="4480560"/>
            <a:ext cx="9144000" cy="662940"/>
          </a:xfrm>
          <a:prstGeom prst="rect">
            <a:avLst/>
          </a:prstGeom>
          <a:solidFill>
            <a:srgbClr val="0A1628"/>
          </a:solidFill>
          <a:ln/>
        </p:spPr>
      </p:sp>
      <p:sp>
        <p:nvSpPr>
          <p:cNvPr id="4" name="Text 1"/>
          <p:cNvSpPr/>
          <p:nvPr/>
        </p:nvSpPr>
        <p:spPr>
          <a:xfrm>
            <a:off x="457200" y="4526280"/>
            <a:ext cx="6400800" cy="457200"/>
          </a:xfrm>
          <a:prstGeom prst="rect">
            <a:avLst/>
          </a:prstGeom>
          <a:noFill/>
          <a:ln/>
        </p:spPr>
        <p:txBody>
          <a:bodyPr wrap="square"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June 2026 — the Zarr ecosystem is moving fast</a:t>
            </a:r>
            <a:endParaRPr lang="en-US" sz="1600" dirty="0"/>
          </a:p>
        </p:txBody>
      </p:sp>
      <p:sp>
        <p:nvSpPr>
          <p:cNvPr id="5" name="Text 2"/>
          <p:cNvSpPr/>
          <p:nvPr/>
        </p:nvSpPr>
        <p:spPr>
          <a:xfrm>
            <a:off x="6858000" y="4526280"/>
            <a:ext cx="2011680" cy="457200"/>
          </a:xfrm>
          <a:prstGeom prst="rect">
            <a:avLst/>
          </a:prstGeom>
          <a:noFill/>
          <a:ln/>
        </p:spPr>
        <p:txBody>
          <a:bodyPr wrap="square" rtlCol="0" anchor="ctr"/>
          <a:lstStyle/>
          <a:p>
            <a:pPr marL="0" indent="0" algn="r">
              <a:buNone/>
            </a:pPr>
            <a:r>
              <a:rPr lang="en-US" sz="1100" i="1" dirty="0">
                <a:solidFill>
                  <a:srgbClr val="94A3B8"/>
                </a:solidFill>
                <a:latin typeface="Calibri" pitchFamily="34" charset="0"/>
                <a:ea typeface="Calibri" pitchFamily="34" charset="-122"/>
                <a:cs typeface="Calibri" pitchFamily="34" charset="-120"/>
              </a:rPr>
              <a:t>earthmover.io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marL="0" indent="0">
              <a:buNone/>
            </a:pPr>
            <a:r>
              <a:rPr lang="en-US" sz="3200" b="1" dirty="0">
                <a:solidFill>
                  <a:srgbClr val="1E293B"/>
                </a:solidFill>
                <a:latin typeface="Cambria" pitchFamily="34" charset="0"/>
                <a:ea typeface="Cambria" pitchFamily="34" charset="-122"/>
                <a:cs typeface="Cambria" pitchFamily="34" charset="-120"/>
              </a:rPr>
              <a:t>What is Zarr?</a:t>
            </a:r>
            <a:endParaRPr lang="en-US" sz="3200" dirty="0"/>
          </a:p>
        </p:txBody>
      </p:sp>
      <p:sp>
        <p:nvSpPr>
          <p:cNvPr id="3" name="Text 1"/>
          <p:cNvSpPr/>
          <p:nvPr/>
        </p:nvSpPr>
        <p:spPr>
          <a:xfrm>
            <a:off x="457200" y="1005840"/>
            <a:ext cx="4114800" cy="3474720"/>
          </a:xfrm>
          <a:prstGeom prst="rect">
            <a:avLst/>
          </a:prstGeom>
          <a:noFill/>
          <a:ln/>
        </p:spPr>
        <p:txBody>
          <a:bodyPr wrap="square" rtlCol="0" anchor="t"/>
          <a:lstStyle/>
          <a:p>
            <a:pPr marL="0" indent="0">
              <a:buNone/>
            </a:pPr>
            <a:r>
              <a:rPr lang="en-US" sz="1500" b="1" dirty="0">
                <a:solidFill>
                  <a:srgbClr val="1E293B"/>
                </a:solidFill>
                <a:latin typeface="Calibri" pitchFamily="34" charset="0"/>
                <a:ea typeface="Calibri" pitchFamily="34" charset="-122"/>
                <a:cs typeface="Calibri" pitchFamily="34" charset="-120"/>
              </a:rPr>
              <a:t>Chunked, compressed, N-dimensional arrays</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Each array is split into </a:t>
            </a:r>
            <a:r>
              <a:rPr lang="en-US" sz="1500" b="1" dirty="0">
                <a:solidFill>
                  <a:srgbClr val="0E7490"/>
                </a:solidFill>
                <a:latin typeface="Calibri" pitchFamily="34" charset="0"/>
                <a:ea typeface="Calibri" pitchFamily="34" charset="-122"/>
                <a:cs typeface="Calibri" pitchFamily="34" charset="-120"/>
              </a:rPr>
              <a:t>rectangular chunks</a:t>
            </a:r>
            <a:r>
              <a:rPr lang="en-US" sz="1500" dirty="0">
                <a:solidFill>
                  <a:srgbClr val="1E293B"/>
                </a:solidFill>
                <a:latin typeface="Calibri" pitchFamily="34" charset="0"/>
                <a:ea typeface="Calibri" pitchFamily="34" charset="-122"/>
                <a:cs typeface="Calibri" pitchFamily="34" charset="-120"/>
              </a:rPr>
              <a:t> — small tiles stored as independent files/objects</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Reads only fetch the chunks you touch → </a:t>
            </a:r>
            <a:r>
              <a:rPr lang="en-US" sz="1500" b="1" dirty="0">
                <a:solidFill>
                  <a:srgbClr val="0E7490"/>
                </a:solidFill>
                <a:latin typeface="Calibri" pitchFamily="34" charset="0"/>
                <a:ea typeface="Calibri" pitchFamily="34" charset="-122"/>
                <a:cs typeface="Calibri" pitchFamily="34" charset="-120"/>
              </a:rPr>
              <a:t>no full-file download</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Each chunk is </a:t>
            </a:r>
            <a:r>
              <a:rPr lang="en-US" sz="1500" b="1" dirty="0">
                <a:solidFill>
                  <a:srgbClr val="0E7490"/>
                </a:solidFill>
                <a:latin typeface="Calibri" pitchFamily="34" charset="0"/>
                <a:ea typeface="Calibri" pitchFamily="34" charset="-122"/>
                <a:cs typeface="Calibri" pitchFamily="34" charset="-120"/>
              </a:rPr>
              <a:t>compressed, opaque bytes</a:t>
            </a:r>
            <a:r>
              <a:rPr lang="en-US" sz="1500" dirty="0">
                <a:solidFill>
                  <a:srgbClr val="1E293B"/>
                </a:solidFill>
                <a:latin typeface="Calibri" pitchFamily="34" charset="0"/>
                <a:ea typeface="Calibri" pitchFamily="34" charset="-122"/>
                <a:cs typeface="Calibri" pitchFamily="34" charset="-120"/>
              </a:rPr>
              <a:t> — meaningless without the metadata</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Works </a:t>
            </a:r>
            <a:r>
              <a:rPr lang="en-US" sz="1500" b="1" dirty="0">
                <a:solidFill>
                  <a:srgbClr val="0E7490"/>
                </a:solidFill>
                <a:latin typeface="Calibri" pitchFamily="34" charset="0"/>
                <a:ea typeface="Calibri" pitchFamily="34" charset="-122"/>
                <a:cs typeface="Calibri" pitchFamily="34" charset="-120"/>
              </a:rPr>
              <a:t>online</a:t>
            </a:r>
            <a:endParaRPr lang="en-US" sz="1500" dirty="0"/>
          </a:p>
          <a:p>
            <a:pPr marL="0" indent="0">
              <a:buNone/>
            </a:pPr>
            <a:r>
              <a:rPr lang="en-US" sz="1200" dirty="0">
                <a:solidFill>
                  <a:srgbClr val="155E75"/>
                </a:solidFill>
                <a:latin typeface="Courier New" pitchFamily="34" charset="0"/>
                <a:ea typeface="Courier New" pitchFamily="34" charset="-122"/>
                <a:cs typeface="Courier New" pitchFamily="34" charset="-120"/>
              </a:rPr>
              <a:t>s3:// gs:// http:// /vsicurl</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94A3B8"/>
                </a:solidFill>
                <a:latin typeface="Calibri" pitchFamily="34" charset="0"/>
                <a:ea typeface="Calibri" pitchFamily="34" charset="-122"/>
                <a:cs typeface="Calibri" pitchFamily="34" charset="-120"/>
              </a:rPr>
              <a:t>Metadata stored separately (</a:t>
            </a:r>
            <a:r>
              <a:rPr lang="en-US" sz="1500" dirty="0">
                <a:solidFill>
                  <a:srgbClr val="155E75"/>
                </a:solidFill>
                <a:latin typeface="Courier New" pitchFamily="34" charset="0"/>
                <a:ea typeface="Courier New" pitchFamily="34" charset="-122"/>
                <a:cs typeface="Courier New" pitchFamily="34" charset="-120"/>
              </a:rPr>
              <a:t>.zarray</a:t>
            </a:r>
            <a:r>
              <a:rPr lang="en-US" sz="1500" dirty="0">
                <a:solidFill>
                  <a:srgbClr val="94A3B8"/>
                </a:solidFill>
                <a:latin typeface="Calibri" pitchFamily="34" charset="0"/>
                <a:ea typeface="Calibri" pitchFamily="34" charset="-122"/>
                <a:cs typeface="Calibri" pitchFamily="34" charset="-120"/>
              </a:rPr>
              <a:t>) — describes shape, chunk shape, compression details</a:t>
            </a:r>
            <a:endParaRPr lang="en-US" sz="1500" dirty="0"/>
          </a:p>
        </p:txBody>
      </p:sp>
      <p:sp>
        <p:nvSpPr>
          <p:cNvPr id="4" name="Text 2"/>
          <p:cNvSpPr/>
          <p:nvPr/>
        </p:nvSpPr>
        <p:spPr>
          <a:xfrm>
            <a:off x="4937760" y="621792"/>
            <a:ext cx="3063240" cy="22860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time →</a:t>
            </a:r>
            <a:endParaRPr lang="en-US" sz="1000" dirty="0"/>
          </a:p>
        </p:txBody>
      </p:sp>
      <p:sp>
        <p:nvSpPr>
          <p:cNvPr id="5" name="Text 3"/>
          <p:cNvSpPr/>
          <p:nvPr/>
        </p:nvSpPr>
        <p:spPr>
          <a:xfrm>
            <a:off x="4800600" y="3474720"/>
            <a:ext cx="3337560" cy="228600"/>
          </a:xfrm>
          <a:prstGeom prst="rect">
            <a:avLst/>
          </a:prstGeom>
          <a:noFill/>
          <a:ln/>
        </p:spPr>
        <p:txBody>
          <a:bodyPr wrap="square"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 depth</a:t>
            </a:r>
            <a:endParaRPr lang="en-US" sz="1000" dirty="0"/>
          </a:p>
        </p:txBody>
      </p:sp>
      <p:sp>
        <p:nvSpPr>
          <p:cNvPr id="6" name="Shape 4"/>
          <p:cNvSpPr/>
          <p:nvPr/>
        </p:nvSpPr>
        <p:spPr>
          <a:xfrm>
            <a:off x="4937760" y="914400"/>
            <a:ext cx="566928" cy="457200"/>
          </a:xfrm>
          <a:prstGeom prst="roundRect">
            <a:avLst>
              <a:gd name="adj" fmla="val 10000"/>
            </a:avLst>
          </a:prstGeom>
          <a:solidFill>
            <a:srgbClr val="E2E8F0"/>
          </a:solidFill>
          <a:ln w="12700">
            <a:solidFill>
              <a:srgbClr val="CBD5E1"/>
            </a:solidFill>
            <a:prstDash val="solid"/>
          </a:ln>
        </p:spPr>
      </p:sp>
      <p:sp>
        <p:nvSpPr>
          <p:cNvPr id="7" name="Shape 5"/>
          <p:cNvSpPr/>
          <p:nvPr/>
        </p:nvSpPr>
        <p:spPr>
          <a:xfrm>
            <a:off x="5550408" y="914400"/>
            <a:ext cx="566928" cy="457200"/>
          </a:xfrm>
          <a:prstGeom prst="roundRect">
            <a:avLst>
              <a:gd name="adj" fmla="val 10000"/>
            </a:avLst>
          </a:prstGeom>
          <a:solidFill>
            <a:srgbClr val="E2E8F0"/>
          </a:solidFill>
          <a:ln w="12700">
            <a:solidFill>
              <a:srgbClr val="CBD5E1"/>
            </a:solidFill>
            <a:prstDash val="solid"/>
          </a:ln>
        </p:spPr>
      </p:sp>
      <p:sp>
        <p:nvSpPr>
          <p:cNvPr id="8" name="Shape 6"/>
          <p:cNvSpPr/>
          <p:nvPr/>
        </p:nvSpPr>
        <p:spPr>
          <a:xfrm>
            <a:off x="6163056" y="914400"/>
            <a:ext cx="566928" cy="457200"/>
          </a:xfrm>
          <a:prstGeom prst="roundRect">
            <a:avLst>
              <a:gd name="adj" fmla="val 10000"/>
            </a:avLst>
          </a:prstGeom>
          <a:solidFill>
            <a:srgbClr val="E2E8F0"/>
          </a:solidFill>
          <a:ln w="12700">
            <a:solidFill>
              <a:srgbClr val="CBD5E1"/>
            </a:solidFill>
            <a:prstDash val="solid"/>
          </a:ln>
        </p:spPr>
      </p:sp>
      <p:sp>
        <p:nvSpPr>
          <p:cNvPr id="9" name="Shape 7"/>
          <p:cNvSpPr/>
          <p:nvPr/>
        </p:nvSpPr>
        <p:spPr>
          <a:xfrm>
            <a:off x="6775704" y="914400"/>
            <a:ext cx="566928" cy="457200"/>
          </a:xfrm>
          <a:prstGeom prst="roundRect">
            <a:avLst>
              <a:gd name="adj" fmla="val 10000"/>
            </a:avLst>
          </a:prstGeom>
          <a:solidFill>
            <a:srgbClr val="E2E8F0"/>
          </a:solidFill>
          <a:ln w="12700">
            <a:solidFill>
              <a:srgbClr val="CBD5E1"/>
            </a:solidFill>
            <a:prstDash val="solid"/>
          </a:ln>
        </p:spPr>
      </p:sp>
      <p:sp>
        <p:nvSpPr>
          <p:cNvPr id="10" name="Shape 8"/>
          <p:cNvSpPr/>
          <p:nvPr/>
        </p:nvSpPr>
        <p:spPr>
          <a:xfrm>
            <a:off x="7388352" y="914400"/>
            <a:ext cx="566928" cy="457200"/>
          </a:xfrm>
          <a:prstGeom prst="roundRect">
            <a:avLst>
              <a:gd name="adj" fmla="val 10000"/>
            </a:avLst>
          </a:prstGeom>
          <a:solidFill>
            <a:srgbClr val="E2E8F0"/>
          </a:solidFill>
          <a:ln w="12700">
            <a:solidFill>
              <a:srgbClr val="CBD5E1"/>
            </a:solidFill>
            <a:prstDash val="solid"/>
          </a:ln>
        </p:spPr>
      </p:sp>
      <p:sp>
        <p:nvSpPr>
          <p:cNvPr id="11" name="Shape 9"/>
          <p:cNvSpPr/>
          <p:nvPr/>
        </p:nvSpPr>
        <p:spPr>
          <a:xfrm>
            <a:off x="4937760" y="1417320"/>
            <a:ext cx="566928" cy="457200"/>
          </a:xfrm>
          <a:prstGeom prst="roundRect">
            <a:avLst>
              <a:gd name="adj" fmla="val 10000"/>
            </a:avLst>
          </a:prstGeom>
          <a:solidFill>
            <a:srgbClr val="E2E8F0"/>
          </a:solidFill>
          <a:ln w="12700">
            <a:solidFill>
              <a:srgbClr val="CBD5E1"/>
            </a:solidFill>
            <a:prstDash val="solid"/>
          </a:ln>
        </p:spPr>
      </p:sp>
      <p:sp>
        <p:nvSpPr>
          <p:cNvPr id="12" name="Shape 10"/>
          <p:cNvSpPr/>
          <p:nvPr/>
        </p:nvSpPr>
        <p:spPr>
          <a:xfrm>
            <a:off x="5550408" y="1417320"/>
            <a:ext cx="566928" cy="457200"/>
          </a:xfrm>
          <a:prstGeom prst="roundRect">
            <a:avLst>
              <a:gd name="adj" fmla="val 10000"/>
            </a:avLst>
          </a:prstGeom>
          <a:solidFill>
            <a:srgbClr val="E2E8F0"/>
          </a:solidFill>
          <a:ln w="12700">
            <a:solidFill>
              <a:srgbClr val="CBD5E1"/>
            </a:solidFill>
            <a:prstDash val="solid"/>
          </a:ln>
        </p:spPr>
      </p:sp>
      <p:sp>
        <p:nvSpPr>
          <p:cNvPr id="13" name="Shape 11"/>
          <p:cNvSpPr/>
          <p:nvPr/>
        </p:nvSpPr>
        <p:spPr>
          <a:xfrm>
            <a:off x="6163056" y="1417320"/>
            <a:ext cx="566928" cy="457200"/>
          </a:xfrm>
          <a:prstGeom prst="roundRect">
            <a:avLst>
              <a:gd name="adj" fmla="val 10000"/>
            </a:avLst>
          </a:prstGeom>
          <a:solidFill>
            <a:srgbClr val="0E7490"/>
          </a:solidFill>
          <a:ln w="25400">
            <a:solidFill>
              <a:srgbClr val="22D3EE"/>
            </a:solidFill>
            <a:prstDash val="solid"/>
          </a:ln>
          <a:effectLst>
            <a:outerShdw blurRad="76200" dist="25400" dir="2700000" algn="bl" rotWithShape="0">
              <a:srgbClr val="000000">
                <a:alpha val="18000"/>
              </a:srgbClr>
            </a:outerShdw>
          </a:effectLst>
        </p:spPr>
      </p:sp>
      <p:sp>
        <p:nvSpPr>
          <p:cNvPr id="14" name="Text 12"/>
          <p:cNvSpPr/>
          <p:nvPr/>
        </p:nvSpPr>
        <p:spPr>
          <a:xfrm>
            <a:off x="6163056" y="1417320"/>
            <a:ext cx="566928" cy="457200"/>
          </a:xfrm>
          <a:prstGeom prst="rect">
            <a:avLst/>
          </a:prstGeom>
          <a:noFill/>
          <a:ln/>
        </p:spPr>
        <p:txBody>
          <a:bodyPr wrap="square" rtlCol="0" anchor="ctr"/>
          <a:lstStyle/>
          <a:p>
            <a:pPr marL="0" indent="0" algn="ctr">
              <a:buNone/>
            </a:pPr>
            <a:r>
              <a:rPr lang="en-US" sz="1400" dirty="0">
                <a:solidFill>
                  <a:srgbClr val="CFFAFE"/>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775704" y="1417320"/>
            <a:ext cx="566928" cy="457200"/>
          </a:xfrm>
          <a:prstGeom prst="roundRect">
            <a:avLst>
              <a:gd name="adj" fmla="val 10000"/>
            </a:avLst>
          </a:prstGeom>
          <a:solidFill>
            <a:srgbClr val="0E7490"/>
          </a:solidFill>
          <a:ln w="25400">
            <a:solidFill>
              <a:srgbClr val="22D3EE"/>
            </a:solidFill>
            <a:prstDash val="solid"/>
          </a:ln>
          <a:effectLst>
            <a:outerShdw blurRad="76200" dist="25400" dir="2700000" algn="bl" rotWithShape="0">
              <a:srgbClr val="000000">
                <a:alpha val="18000"/>
              </a:srgbClr>
            </a:outerShdw>
          </a:effectLst>
        </p:spPr>
      </p:sp>
      <p:sp>
        <p:nvSpPr>
          <p:cNvPr id="16" name="Text 14"/>
          <p:cNvSpPr/>
          <p:nvPr/>
        </p:nvSpPr>
        <p:spPr>
          <a:xfrm>
            <a:off x="6775704" y="1417320"/>
            <a:ext cx="566928" cy="457200"/>
          </a:xfrm>
          <a:prstGeom prst="rect">
            <a:avLst/>
          </a:prstGeom>
          <a:noFill/>
          <a:ln/>
        </p:spPr>
        <p:txBody>
          <a:bodyPr wrap="square" rtlCol="0" anchor="ctr"/>
          <a:lstStyle/>
          <a:p>
            <a:pPr marL="0" indent="0" algn="ctr">
              <a:buNone/>
            </a:pPr>
            <a:r>
              <a:rPr lang="en-US" sz="1400" dirty="0">
                <a:solidFill>
                  <a:srgbClr val="CFFAFE"/>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7388352" y="1417320"/>
            <a:ext cx="566928" cy="457200"/>
          </a:xfrm>
          <a:prstGeom prst="roundRect">
            <a:avLst>
              <a:gd name="adj" fmla="val 10000"/>
            </a:avLst>
          </a:prstGeom>
          <a:solidFill>
            <a:srgbClr val="E2E8F0"/>
          </a:solidFill>
          <a:ln w="12700">
            <a:solidFill>
              <a:srgbClr val="CBD5E1"/>
            </a:solidFill>
            <a:prstDash val="solid"/>
          </a:ln>
        </p:spPr>
      </p:sp>
      <p:sp>
        <p:nvSpPr>
          <p:cNvPr id="18" name="Shape 16"/>
          <p:cNvSpPr/>
          <p:nvPr/>
        </p:nvSpPr>
        <p:spPr>
          <a:xfrm>
            <a:off x="4937760" y="1920240"/>
            <a:ext cx="566928" cy="457200"/>
          </a:xfrm>
          <a:prstGeom prst="roundRect">
            <a:avLst>
              <a:gd name="adj" fmla="val 10000"/>
            </a:avLst>
          </a:prstGeom>
          <a:solidFill>
            <a:srgbClr val="E2E8F0"/>
          </a:solidFill>
          <a:ln w="12700">
            <a:solidFill>
              <a:srgbClr val="CBD5E1"/>
            </a:solidFill>
            <a:prstDash val="solid"/>
          </a:ln>
        </p:spPr>
      </p:sp>
      <p:sp>
        <p:nvSpPr>
          <p:cNvPr id="19" name="Shape 17"/>
          <p:cNvSpPr/>
          <p:nvPr/>
        </p:nvSpPr>
        <p:spPr>
          <a:xfrm>
            <a:off x="5550408" y="1920240"/>
            <a:ext cx="566928" cy="457200"/>
          </a:xfrm>
          <a:prstGeom prst="roundRect">
            <a:avLst>
              <a:gd name="adj" fmla="val 10000"/>
            </a:avLst>
          </a:prstGeom>
          <a:solidFill>
            <a:srgbClr val="E2E8F0"/>
          </a:solidFill>
          <a:ln w="12700">
            <a:solidFill>
              <a:srgbClr val="CBD5E1"/>
            </a:solidFill>
            <a:prstDash val="solid"/>
          </a:ln>
        </p:spPr>
      </p:sp>
      <p:sp>
        <p:nvSpPr>
          <p:cNvPr id="20" name="Shape 18"/>
          <p:cNvSpPr/>
          <p:nvPr/>
        </p:nvSpPr>
        <p:spPr>
          <a:xfrm>
            <a:off x="6163056" y="1920240"/>
            <a:ext cx="566928" cy="457200"/>
          </a:xfrm>
          <a:prstGeom prst="roundRect">
            <a:avLst>
              <a:gd name="adj" fmla="val 10000"/>
            </a:avLst>
          </a:prstGeom>
          <a:solidFill>
            <a:srgbClr val="0E7490"/>
          </a:solidFill>
          <a:ln w="25400">
            <a:solidFill>
              <a:srgbClr val="22D3EE"/>
            </a:solidFill>
            <a:prstDash val="solid"/>
          </a:ln>
          <a:effectLst>
            <a:outerShdw blurRad="76200" dist="25400" dir="2700000" algn="bl" rotWithShape="0">
              <a:srgbClr val="000000">
                <a:alpha val="18000"/>
              </a:srgbClr>
            </a:outerShdw>
          </a:effectLst>
        </p:spPr>
      </p:sp>
      <p:sp>
        <p:nvSpPr>
          <p:cNvPr id="21" name="Text 19"/>
          <p:cNvSpPr/>
          <p:nvPr/>
        </p:nvSpPr>
        <p:spPr>
          <a:xfrm>
            <a:off x="6163056" y="1920240"/>
            <a:ext cx="566928" cy="457200"/>
          </a:xfrm>
          <a:prstGeom prst="rect">
            <a:avLst/>
          </a:prstGeom>
          <a:noFill/>
          <a:ln/>
        </p:spPr>
        <p:txBody>
          <a:bodyPr wrap="square" rtlCol="0" anchor="ctr"/>
          <a:lstStyle/>
          <a:p>
            <a:pPr marL="0" indent="0" algn="ctr">
              <a:buNone/>
            </a:pPr>
            <a:r>
              <a:rPr lang="en-US" sz="1400" dirty="0">
                <a:solidFill>
                  <a:srgbClr val="CFFAFE"/>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775704" y="1920240"/>
            <a:ext cx="566928" cy="457200"/>
          </a:xfrm>
          <a:prstGeom prst="roundRect">
            <a:avLst>
              <a:gd name="adj" fmla="val 10000"/>
            </a:avLst>
          </a:prstGeom>
          <a:solidFill>
            <a:srgbClr val="0E7490"/>
          </a:solidFill>
          <a:ln w="25400">
            <a:solidFill>
              <a:srgbClr val="22D3EE"/>
            </a:solidFill>
            <a:prstDash val="solid"/>
          </a:ln>
          <a:effectLst>
            <a:outerShdw blurRad="76200" dist="25400" dir="2700000" algn="bl" rotWithShape="0">
              <a:srgbClr val="000000">
                <a:alpha val="18000"/>
              </a:srgbClr>
            </a:outerShdw>
          </a:effectLst>
        </p:spPr>
      </p:sp>
      <p:sp>
        <p:nvSpPr>
          <p:cNvPr id="23" name="Text 21"/>
          <p:cNvSpPr/>
          <p:nvPr/>
        </p:nvSpPr>
        <p:spPr>
          <a:xfrm>
            <a:off x="6775704" y="1920240"/>
            <a:ext cx="566928" cy="457200"/>
          </a:xfrm>
          <a:prstGeom prst="rect">
            <a:avLst/>
          </a:prstGeom>
          <a:noFill/>
          <a:ln/>
        </p:spPr>
        <p:txBody>
          <a:bodyPr wrap="square" rtlCol="0" anchor="ctr"/>
          <a:lstStyle/>
          <a:p>
            <a:pPr marL="0" indent="0" algn="ctr">
              <a:buNone/>
            </a:pPr>
            <a:r>
              <a:rPr lang="en-US" sz="1400" dirty="0">
                <a:solidFill>
                  <a:srgbClr val="CFFAFE"/>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7388352" y="1920240"/>
            <a:ext cx="566928" cy="457200"/>
          </a:xfrm>
          <a:prstGeom prst="roundRect">
            <a:avLst>
              <a:gd name="adj" fmla="val 10000"/>
            </a:avLst>
          </a:prstGeom>
          <a:solidFill>
            <a:srgbClr val="E2E8F0"/>
          </a:solidFill>
          <a:ln w="12700">
            <a:solidFill>
              <a:srgbClr val="CBD5E1"/>
            </a:solidFill>
            <a:prstDash val="solid"/>
          </a:ln>
        </p:spPr>
      </p:sp>
      <p:sp>
        <p:nvSpPr>
          <p:cNvPr id="25" name="Shape 23"/>
          <p:cNvSpPr/>
          <p:nvPr/>
        </p:nvSpPr>
        <p:spPr>
          <a:xfrm>
            <a:off x="4937760" y="2423160"/>
            <a:ext cx="566928" cy="457200"/>
          </a:xfrm>
          <a:prstGeom prst="roundRect">
            <a:avLst>
              <a:gd name="adj" fmla="val 10000"/>
            </a:avLst>
          </a:prstGeom>
          <a:solidFill>
            <a:srgbClr val="E2E8F0"/>
          </a:solidFill>
          <a:ln w="12700">
            <a:solidFill>
              <a:srgbClr val="CBD5E1"/>
            </a:solidFill>
            <a:prstDash val="solid"/>
          </a:ln>
        </p:spPr>
      </p:sp>
      <p:sp>
        <p:nvSpPr>
          <p:cNvPr id="26" name="Shape 24"/>
          <p:cNvSpPr/>
          <p:nvPr/>
        </p:nvSpPr>
        <p:spPr>
          <a:xfrm>
            <a:off x="5550408" y="2423160"/>
            <a:ext cx="566928" cy="457200"/>
          </a:xfrm>
          <a:prstGeom prst="roundRect">
            <a:avLst>
              <a:gd name="adj" fmla="val 10000"/>
            </a:avLst>
          </a:prstGeom>
          <a:solidFill>
            <a:srgbClr val="E2E8F0"/>
          </a:solidFill>
          <a:ln w="12700">
            <a:solidFill>
              <a:srgbClr val="CBD5E1"/>
            </a:solidFill>
            <a:prstDash val="solid"/>
          </a:ln>
        </p:spPr>
      </p:sp>
      <p:sp>
        <p:nvSpPr>
          <p:cNvPr id="27" name="Shape 25"/>
          <p:cNvSpPr/>
          <p:nvPr/>
        </p:nvSpPr>
        <p:spPr>
          <a:xfrm>
            <a:off x="6163056" y="2423160"/>
            <a:ext cx="566928" cy="457200"/>
          </a:xfrm>
          <a:prstGeom prst="roundRect">
            <a:avLst>
              <a:gd name="adj" fmla="val 10000"/>
            </a:avLst>
          </a:prstGeom>
          <a:solidFill>
            <a:srgbClr val="E2E8F0"/>
          </a:solidFill>
          <a:ln w="12700">
            <a:solidFill>
              <a:srgbClr val="CBD5E1"/>
            </a:solidFill>
            <a:prstDash val="solid"/>
          </a:ln>
        </p:spPr>
      </p:sp>
      <p:sp>
        <p:nvSpPr>
          <p:cNvPr id="28" name="Shape 26"/>
          <p:cNvSpPr/>
          <p:nvPr/>
        </p:nvSpPr>
        <p:spPr>
          <a:xfrm>
            <a:off x="6775704" y="2423160"/>
            <a:ext cx="566928" cy="457200"/>
          </a:xfrm>
          <a:prstGeom prst="roundRect">
            <a:avLst>
              <a:gd name="adj" fmla="val 10000"/>
            </a:avLst>
          </a:prstGeom>
          <a:solidFill>
            <a:srgbClr val="E2E8F0"/>
          </a:solidFill>
          <a:ln w="12700">
            <a:solidFill>
              <a:srgbClr val="CBD5E1"/>
            </a:solidFill>
            <a:prstDash val="solid"/>
          </a:ln>
        </p:spPr>
      </p:sp>
      <p:sp>
        <p:nvSpPr>
          <p:cNvPr id="29" name="Shape 27"/>
          <p:cNvSpPr/>
          <p:nvPr/>
        </p:nvSpPr>
        <p:spPr>
          <a:xfrm>
            <a:off x="7388352" y="2423160"/>
            <a:ext cx="566928" cy="457200"/>
          </a:xfrm>
          <a:prstGeom prst="roundRect">
            <a:avLst>
              <a:gd name="adj" fmla="val 10000"/>
            </a:avLst>
          </a:prstGeom>
          <a:solidFill>
            <a:srgbClr val="E2E8F0"/>
          </a:solidFill>
          <a:ln w="12700">
            <a:solidFill>
              <a:srgbClr val="CBD5E1"/>
            </a:solidFill>
            <a:prstDash val="solid"/>
          </a:ln>
        </p:spPr>
      </p:sp>
      <p:sp>
        <p:nvSpPr>
          <p:cNvPr id="30" name="Shape 28"/>
          <p:cNvSpPr/>
          <p:nvPr/>
        </p:nvSpPr>
        <p:spPr>
          <a:xfrm>
            <a:off x="4937760" y="2926080"/>
            <a:ext cx="566928" cy="457200"/>
          </a:xfrm>
          <a:prstGeom prst="roundRect">
            <a:avLst>
              <a:gd name="adj" fmla="val 10000"/>
            </a:avLst>
          </a:prstGeom>
          <a:solidFill>
            <a:srgbClr val="E2E8F0"/>
          </a:solidFill>
          <a:ln w="12700">
            <a:solidFill>
              <a:srgbClr val="CBD5E1"/>
            </a:solidFill>
            <a:prstDash val="solid"/>
          </a:ln>
        </p:spPr>
      </p:sp>
      <p:sp>
        <p:nvSpPr>
          <p:cNvPr id="31" name="Shape 29"/>
          <p:cNvSpPr/>
          <p:nvPr/>
        </p:nvSpPr>
        <p:spPr>
          <a:xfrm>
            <a:off x="5550408" y="2926080"/>
            <a:ext cx="566928" cy="457200"/>
          </a:xfrm>
          <a:prstGeom prst="roundRect">
            <a:avLst>
              <a:gd name="adj" fmla="val 10000"/>
            </a:avLst>
          </a:prstGeom>
          <a:solidFill>
            <a:srgbClr val="E2E8F0"/>
          </a:solidFill>
          <a:ln w="12700">
            <a:solidFill>
              <a:srgbClr val="CBD5E1"/>
            </a:solidFill>
            <a:prstDash val="solid"/>
          </a:ln>
        </p:spPr>
      </p:sp>
      <p:sp>
        <p:nvSpPr>
          <p:cNvPr id="32" name="Shape 30"/>
          <p:cNvSpPr/>
          <p:nvPr/>
        </p:nvSpPr>
        <p:spPr>
          <a:xfrm>
            <a:off x="6163056" y="2926080"/>
            <a:ext cx="566928" cy="457200"/>
          </a:xfrm>
          <a:prstGeom prst="roundRect">
            <a:avLst>
              <a:gd name="adj" fmla="val 10000"/>
            </a:avLst>
          </a:prstGeom>
          <a:solidFill>
            <a:srgbClr val="E2E8F0"/>
          </a:solidFill>
          <a:ln w="12700">
            <a:solidFill>
              <a:srgbClr val="CBD5E1"/>
            </a:solidFill>
            <a:prstDash val="solid"/>
          </a:ln>
        </p:spPr>
      </p:sp>
      <p:sp>
        <p:nvSpPr>
          <p:cNvPr id="33" name="Shape 31"/>
          <p:cNvSpPr/>
          <p:nvPr/>
        </p:nvSpPr>
        <p:spPr>
          <a:xfrm>
            <a:off x="6775704" y="2926080"/>
            <a:ext cx="566928" cy="457200"/>
          </a:xfrm>
          <a:prstGeom prst="roundRect">
            <a:avLst>
              <a:gd name="adj" fmla="val 10000"/>
            </a:avLst>
          </a:prstGeom>
          <a:solidFill>
            <a:srgbClr val="E2E8F0"/>
          </a:solidFill>
          <a:ln w="12700">
            <a:solidFill>
              <a:srgbClr val="CBD5E1"/>
            </a:solidFill>
            <a:prstDash val="solid"/>
          </a:ln>
        </p:spPr>
      </p:sp>
      <p:sp>
        <p:nvSpPr>
          <p:cNvPr id="34" name="Shape 32"/>
          <p:cNvSpPr/>
          <p:nvPr/>
        </p:nvSpPr>
        <p:spPr>
          <a:xfrm>
            <a:off x="7388352" y="2926080"/>
            <a:ext cx="566928" cy="457200"/>
          </a:xfrm>
          <a:prstGeom prst="roundRect">
            <a:avLst>
              <a:gd name="adj" fmla="val 10000"/>
            </a:avLst>
          </a:prstGeom>
          <a:solidFill>
            <a:srgbClr val="E2E8F0"/>
          </a:solidFill>
          <a:ln w="12700">
            <a:solidFill>
              <a:srgbClr val="CBD5E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marL="0" indent="0">
              <a:buNone/>
            </a:pPr>
            <a:r>
              <a:rPr lang="en-US" sz="3200" b="1" dirty="0">
                <a:solidFill>
                  <a:srgbClr val="1E293B"/>
                </a:solidFill>
                <a:latin typeface="Cambria" pitchFamily="34" charset="0"/>
                <a:ea typeface="Cambria" pitchFamily="34" charset="-122"/>
                <a:cs typeface="Cambria" pitchFamily="34" charset="-120"/>
              </a:rPr>
              <a:t>VZarr: virtualization at the chunk level</a:t>
            </a:r>
            <a:endParaRPr lang="en-US" sz="3200" dirty="0"/>
          </a:p>
        </p:txBody>
      </p:sp>
      <p:sp>
        <p:nvSpPr>
          <p:cNvPr id="3" name="Shape 1"/>
          <p:cNvSpPr/>
          <p:nvPr/>
        </p:nvSpPr>
        <p:spPr>
          <a:xfrm>
            <a:off x="320040" y="1097280"/>
            <a:ext cx="2103120" cy="3017520"/>
          </a:xfrm>
          <a:prstGeom prst="roundRect">
            <a:avLst>
              <a:gd name="adj" fmla="val 4348"/>
            </a:avLst>
          </a:prstGeom>
          <a:solidFill>
            <a:srgbClr val="FFF7ED"/>
          </a:solidFill>
          <a:ln w="25400">
            <a:solidFill>
              <a:srgbClr val="F59E0B"/>
            </a:solidFill>
            <a:prstDash val="solid"/>
          </a:ln>
        </p:spPr>
      </p:sp>
      <p:sp>
        <p:nvSpPr>
          <p:cNvPr id="4" name="Text 2"/>
          <p:cNvSpPr/>
          <p:nvPr/>
        </p:nvSpPr>
        <p:spPr>
          <a:xfrm>
            <a:off x="320040" y="1097280"/>
            <a:ext cx="2103120" cy="411480"/>
          </a:xfrm>
          <a:prstGeom prst="rect">
            <a:avLst/>
          </a:prstGeom>
          <a:noFill/>
          <a:ln/>
        </p:spPr>
        <p:txBody>
          <a:bodyPr wrap="square" rtlCol="0" anchor="ctr"/>
          <a:lstStyle/>
          <a:p>
            <a:pPr marL="0" indent="0" algn="ctr">
              <a:buNone/>
            </a:pPr>
            <a:r>
              <a:rPr lang="en-US" sz="1200" b="1" dirty="0">
                <a:solidFill>
                  <a:srgbClr val="F59E0B"/>
                </a:solidFill>
                <a:latin typeface="Calibri" pitchFamily="34" charset="0"/>
                <a:ea typeface="Calibri" pitchFamily="34" charset="-122"/>
                <a:cs typeface="Calibri" pitchFamily="34" charset="-120"/>
              </a:rPr>
              <a:t>HDF5 / NetCDF</a:t>
            </a:r>
            <a:endParaRPr lang="en-US" sz="1200" dirty="0"/>
          </a:p>
        </p:txBody>
      </p:sp>
      <p:sp>
        <p:nvSpPr>
          <p:cNvPr id="5" name="Shape 3"/>
          <p:cNvSpPr/>
          <p:nvPr/>
        </p:nvSpPr>
        <p:spPr>
          <a:xfrm>
            <a:off x="457200" y="1600200"/>
            <a:ext cx="1828800" cy="347472"/>
          </a:xfrm>
          <a:prstGeom prst="roundRect">
            <a:avLst>
              <a:gd name="adj" fmla="val 13158"/>
            </a:avLst>
          </a:prstGeom>
          <a:solidFill>
            <a:srgbClr val="FEF3C7"/>
          </a:solidFill>
          <a:ln w="12700">
            <a:solidFill>
              <a:srgbClr val="F59E0B"/>
            </a:solidFill>
            <a:prstDash val="solid"/>
          </a:ln>
        </p:spPr>
      </p:sp>
      <p:sp>
        <p:nvSpPr>
          <p:cNvPr id="6" name="Text 4"/>
          <p:cNvSpPr/>
          <p:nvPr/>
        </p:nvSpPr>
        <p:spPr>
          <a:xfrm>
            <a:off x="457200" y="1600200"/>
            <a:ext cx="1828800" cy="347472"/>
          </a:xfrm>
          <a:prstGeom prst="rect">
            <a:avLst/>
          </a:prstGeom>
          <a:noFill/>
          <a:ln/>
        </p:spPr>
        <p:txBody>
          <a:bodyPr wrap="square" rtlCol="0" anchor="ctr"/>
          <a:lstStyle/>
          <a:p>
            <a:pPr marL="0" indent="0" algn="ctr">
              <a:buNone/>
            </a:pPr>
            <a:r>
              <a:rPr lang="en-US" sz="1100" dirty="0">
                <a:solidFill>
                  <a:srgbClr val="92400E"/>
                </a:solidFill>
                <a:latin typeface="Courier New" pitchFamily="34" charset="0"/>
                <a:ea typeface="Courier New" pitchFamily="34" charset="-122"/>
                <a:cs typeface="Courier New" pitchFamily="34" charset="-120"/>
              </a:rPr>
              <a:t>chunk 0,0</a:t>
            </a:r>
            <a:endParaRPr lang="en-US" sz="1100" dirty="0"/>
          </a:p>
        </p:txBody>
      </p:sp>
      <p:sp>
        <p:nvSpPr>
          <p:cNvPr id="7" name="Shape 5"/>
          <p:cNvSpPr/>
          <p:nvPr/>
        </p:nvSpPr>
        <p:spPr>
          <a:xfrm>
            <a:off x="457200" y="2020824"/>
            <a:ext cx="1828800" cy="347472"/>
          </a:xfrm>
          <a:prstGeom prst="roundRect">
            <a:avLst>
              <a:gd name="adj" fmla="val 13158"/>
            </a:avLst>
          </a:prstGeom>
          <a:solidFill>
            <a:srgbClr val="FEF3C7"/>
          </a:solidFill>
          <a:ln w="12700">
            <a:solidFill>
              <a:srgbClr val="F59E0B"/>
            </a:solidFill>
            <a:prstDash val="solid"/>
          </a:ln>
        </p:spPr>
      </p:sp>
      <p:sp>
        <p:nvSpPr>
          <p:cNvPr id="8" name="Text 6"/>
          <p:cNvSpPr/>
          <p:nvPr/>
        </p:nvSpPr>
        <p:spPr>
          <a:xfrm>
            <a:off x="457200" y="2020824"/>
            <a:ext cx="1828800" cy="347472"/>
          </a:xfrm>
          <a:prstGeom prst="rect">
            <a:avLst/>
          </a:prstGeom>
          <a:noFill/>
          <a:ln/>
        </p:spPr>
        <p:txBody>
          <a:bodyPr wrap="square" rtlCol="0" anchor="ctr"/>
          <a:lstStyle/>
          <a:p>
            <a:pPr marL="0" indent="0" algn="ctr">
              <a:buNone/>
            </a:pPr>
            <a:r>
              <a:rPr lang="en-US" sz="1100" dirty="0">
                <a:solidFill>
                  <a:srgbClr val="92400E"/>
                </a:solidFill>
                <a:latin typeface="Courier New" pitchFamily="34" charset="0"/>
                <a:ea typeface="Courier New" pitchFamily="34" charset="-122"/>
                <a:cs typeface="Courier New" pitchFamily="34" charset="-120"/>
              </a:rPr>
              <a:t>chunk 0,1</a:t>
            </a:r>
            <a:endParaRPr lang="en-US" sz="1100" dirty="0"/>
          </a:p>
        </p:txBody>
      </p:sp>
      <p:sp>
        <p:nvSpPr>
          <p:cNvPr id="9" name="Shape 7"/>
          <p:cNvSpPr/>
          <p:nvPr/>
        </p:nvSpPr>
        <p:spPr>
          <a:xfrm>
            <a:off x="457200" y="2441448"/>
            <a:ext cx="1828800" cy="347472"/>
          </a:xfrm>
          <a:prstGeom prst="roundRect">
            <a:avLst>
              <a:gd name="adj" fmla="val 13158"/>
            </a:avLst>
          </a:prstGeom>
          <a:solidFill>
            <a:srgbClr val="FEF3C7"/>
          </a:solidFill>
          <a:ln w="12700">
            <a:solidFill>
              <a:srgbClr val="F59E0B"/>
            </a:solidFill>
            <a:prstDash val="solid"/>
          </a:ln>
        </p:spPr>
      </p:sp>
      <p:sp>
        <p:nvSpPr>
          <p:cNvPr id="10" name="Text 8"/>
          <p:cNvSpPr/>
          <p:nvPr/>
        </p:nvSpPr>
        <p:spPr>
          <a:xfrm>
            <a:off x="457200" y="2441448"/>
            <a:ext cx="1828800" cy="347472"/>
          </a:xfrm>
          <a:prstGeom prst="rect">
            <a:avLst/>
          </a:prstGeom>
          <a:noFill/>
          <a:ln/>
        </p:spPr>
        <p:txBody>
          <a:bodyPr wrap="square" rtlCol="0" anchor="ctr"/>
          <a:lstStyle/>
          <a:p>
            <a:pPr marL="0" indent="0" algn="ctr">
              <a:buNone/>
            </a:pPr>
            <a:r>
              <a:rPr lang="en-US" sz="1100" dirty="0">
                <a:solidFill>
                  <a:srgbClr val="92400E"/>
                </a:solidFill>
                <a:latin typeface="Courier New" pitchFamily="34" charset="0"/>
                <a:ea typeface="Courier New" pitchFamily="34" charset="-122"/>
                <a:cs typeface="Courier New" pitchFamily="34" charset="-120"/>
              </a:rPr>
              <a:t>chunk 1,0</a:t>
            </a:r>
            <a:endParaRPr lang="en-US" sz="1100" dirty="0"/>
          </a:p>
        </p:txBody>
      </p:sp>
      <p:sp>
        <p:nvSpPr>
          <p:cNvPr id="11" name="Shape 9"/>
          <p:cNvSpPr/>
          <p:nvPr/>
        </p:nvSpPr>
        <p:spPr>
          <a:xfrm>
            <a:off x="457200" y="2862072"/>
            <a:ext cx="1828800" cy="347472"/>
          </a:xfrm>
          <a:prstGeom prst="roundRect">
            <a:avLst>
              <a:gd name="adj" fmla="val 13158"/>
            </a:avLst>
          </a:prstGeom>
          <a:solidFill>
            <a:srgbClr val="FEF3C7"/>
          </a:solidFill>
          <a:ln w="12700">
            <a:solidFill>
              <a:srgbClr val="F59E0B"/>
            </a:solidFill>
            <a:prstDash val="solid"/>
          </a:ln>
        </p:spPr>
      </p:sp>
      <p:sp>
        <p:nvSpPr>
          <p:cNvPr id="12" name="Text 10"/>
          <p:cNvSpPr/>
          <p:nvPr/>
        </p:nvSpPr>
        <p:spPr>
          <a:xfrm>
            <a:off x="457200" y="2862072"/>
            <a:ext cx="1828800" cy="347472"/>
          </a:xfrm>
          <a:prstGeom prst="rect">
            <a:avLst/>
          </a:prstGeom>
          <a:noFill/>
          <a:ln/>
        </p:spPr>
        <p:txBody>
          <a:bodyPr wrap="square" rtlCol="0" anchor="ctr"/>
          <a:lstStyle/>
          <a:p>
            <a:pPr marL="0" indent="0" algn="ctr">
              <a:buNone/>
            </a:pPr>
            <a:r>
              <a:rPr lang="en-US" sz="1100" dirty="0">
                <a:solidFill>
                  <a:srgbClr val="92400E"/>
                </a:solidFill>
                <a:latin typeface="Courier New" pitchFamily="34" charset="0"/>
                <a:ea typeface="Courier New" pitchFamily="34" charset="-122"/>
                <a:cs typeface="Courier New" pitchFamily="34" charset="-120"/>
              </a:rPr>
              <a:t>chunk 1,1</a:t>
            </a:r>
            <a:endParaRPr lang="en-US" sz="1100" dirty="0"/>
          </a:p>
        </p:txBody>
      </p:sp>
      <p:sp>
        <p:nvSpPr>
          <p:cNvPr id="13" name="Shape 11"/>
          <p:cNvSpPr/>
          <p:nvPr/>
        </p:nvSpPr>
        <p:spPr>
          <a:xfrm>
            <a:off x="457200" y="3282696"/>
            <a:ext cx="1828800" cy="347472"/>
          </a:xfrm>
          <a:prstGeom prst="roundRect">
            <a:avLst>
              <a:gd name="adj" fmla="val 13158"/>
            </a:avLst>
          </a:prstGeom>
          <a:solidFill>
            <a:srgbClr val="FEF3C7"/>
          </a:solidFill>
          <a:ln w="12700">
            <a:solidFill>
              <a:srgbClr val="F59E0B"/>
            </a:solidFill>
            <a:prstDash val="solid"/>
          </a:ln>
        </p:spPr>
      </p:sp>
      <p:sp>
        <p:nvSpPr>
          <p:cNvPr id="14" name="Text 12"/>
          <p:cNvSpPr/>
          <p:nvPr/>
        </p:nvSpPr>
        <p:spPr>
          <a:xfrm>
            <a:off x="457200" y="3282696"/>
            <a:ext cx="1828800" cy="347472"/>
          </a:xfrm>
          <a:prstGeom prst="rect">
            <a:avLst/>
          </a:prstGeom>
          <a:noFill/>
          <a:ln/>
        </p:spPr>
        <p:txBody>
          <a:bodyPr wrap="square" rtlCol="0" anchor="ctr"/>
          <a:lstStyle/>
          <a:p>
            <a:pPr marL="0" indent="0" algn="ctr">
              <a:buNone/>
            </a:pPr>
            <a:r>
              <a:rPr lang="en-US" sz="1100" dirty="0">
                <a:solidFill>
                  <a:srgbClr val="92400E"/>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2423160" y="2606040"/>
            <a:ext cx="822960" cy="0"/>
          </a:xfrm>
          <a:prstGeom prst="line">
            <a:avLst/>
          </a:prstGeom>
          <a:noFill/>
          <a:ln w="31750">
            <a:solidFill>
              <a:srgbClr val="0E7490"/>
            </a:solidFill>
            <a:prstDash val="solid"/>
          </a:ln>
        </p:spPr>
      </p:sp>
      <p:sp>
        <p:nvSpPr>
          <p:cNvPr id="16" name="Text 14"/>
          <p:cNvSpPr/>
          <p:nvPr/>
        </p:nvSpPr>
        <p:spPr>
          <a:xfrm>
            <a:off x="2971800" y="2423160"/>
            <a:ext cx="365760" cy="365760"/>
          </a:xfrm>
          <a:prstGeom prst="rect">
            <a:avLst/>
          </a:prstGeom>
          <a:noFill/>
          <a:ln/>
        </p:spPr>
        <p:txBody>
          <a:bodyPr wrap="square" rtlCol="0" anchor="ctr"/>
          <a:lstStyle/>
          <a:p>
            <a:pPr marL="0" indent="0" algn="ctr">
              <a:buNone/>
            </a:pPr>
            <a:r>
              <a:rPr lang="en-US" sz="1800" dirty="0">
                <a:solidFill>
                  <a:srgbClr val="0E7490"/>
                </a:solidFill>
              </a:rPr>
              <a:t>→</a:t>
            </a:r>
            <a:endParaRPr lang="en-US" sz="1800" dirty="0"/>
          </a:p>
        </p:txBody>
      </p:sp>
      <p:sp>
        <p:nvSpPr>
          <p:cNvPr id="17" name="Text 15"/>
          <p:cNvSpPr/>
          <p:nvPr/>
        </p:nvSpPr>
        <p:spPr>
          <a:xfrm>
            <a:off x="2468880" y="2788920"/>
            <a:ext cx="731520" cy="502920"/>
          </a:xfrm>
          <a:prstGeom prst="rect">
            <a:avLst/>
          </a:prstGeom>
          <a:noFill/>
          <a:ln/>
        </p:spPr>
        <p:txBody>
          <a:bodyPr wrap="square" rtlCol="0" anchor="ctr"/>
          <a:lstStyle/>
          <a:p>
            <a:pPr marL="0" indent="0" algn="ctr">
              <a:buNone/>
            </a:pPr>
            <a:r>
              <a:rPr lang="en-US" sz="900" i="1" dirty="0">
                <a:solidFill>
                  <a:srgbClr val="155E75"/>
                </a:solidFill>
                <a:latin typeface="Calibri" pitchFamily="34" charset="0"/>
                <a:ea typeface="Calibri" pitchFamily="34" charset="-122"/>
                <a:cs typeface="Calibri" pitchFamily="34" charset="-120"/>
              </a:rPr>
              <a:t>byte offset</a:t>
            </a:r>
            <a:endParaRPr lang="en-US" sz="900" dirty="0"/>
          </a:p>
          <a:p>
            <a:pPr marL="0" indent="0" algn="ctr">
              <a:buNone/>
            </a:pPr>
            <a:r>
              <a:rPr lang="en-US" sz="900" i="1" dirty="0">
                <a:solidFill>
                  <a:srgbClr val="155E75"/>
                </a:solidFill>
                <a:latin typeface="Calibri" pitchFamily="34" charset="0"/>
                <a:ea typeface="Calibri" pitchFamily="34" charset="-122"/>
                <a:cs typeface="Calibri" pitchFamily="34" charset="-120"/>
              </a:rPr>
              <a:t>+ size</a:t>
            </a:r>
            <a:endParaRPr lang="en-US" sz="900" dirty="0"/>
          </a:p>
        </p:txBody>
      </p:sp>
      <p:sp>
        <p:nvSpPr>
          <p:cNvPr id="18" name="Shape 16"/>
          <p:cNvSpPr/>
          <p:nvPr/>
        </p:nvSpPr>
        <p:spPr>
          <a:xfrm>
            <a:off x="3246120" y="1097280"/>
            <a:ext cx="2926080" cy="3017520"/>
          </a:xfrm>
          <a:prstGeom prst="roundRect">
            <a:avLst>
              <a:gd name="adj" fmla="val 3125"/>
            </a:avLst>
          </a:prstGeom>
          <a:solidFill>
            <a:srgbClr val="F0FDFA"/>
          </a:solidFill>
          <a:ln w="25400">
            <a:solidFill>
              <a:srgbClr val="0E7490"/>
            </a:solidFill>
            <a:prstDash val="solid"/>
          </a:ln>
        </p:spPr>
      </p:sp>
      <p:sp>
        <p:nvSpPr>
          <p:cNvPr id="19" name="Text 17"/>
          <p:cNvSpPr/>
          <p:nvPr/>
        </p:nvSpPr>
        <p:spPr>
          <a:xfrm>
            <a:off x="3246120" y="1097280"/>
            <a:ext cx="2926080" cy="411480"/>
          </a:xfrm>
          <a:prstGeom prst="rect">
            <a:avLst/>
          </a:prstGeom>
          <a:noFill/>
          <a:ln/>
        </p:spPr>
        <p:txBody>
          <a:bodyPr wrap="square" rtlCol="0" anchor="ctr"/>
          <a:lstStyle/>
          <a:p>
            <a:pPr marL="0" indent="0" algn="ctr">
              <a:buNone/>
            </a:pPr>
            <a:r>
              <a:rPr lang="en-US" sz="1200" b="1" dirty="0">
                <a:solidFill>
                  <a:srgbClr val="155E75"/>
                </a:solidFill>
                <a:latin typeface="Calibri" pitchFamily="34" charset="0"/>
                <a:ea typeface="Calibri" pitchFamily="34" charset="-122"/>
                <a:cs typeface="Calibri" pitchFamily="34" charset="-120"/>
              </a:rPr>
              <a:t>Kerchunk / Parquet refs</a:t>
            </a:r>
            <a:endParaRPr lang="en-US" sz="1200" dirty="0"/>
          </a:p>
        </p:txBody>
      </p:sp>
      <p:sp>
        <p:nvSpPr>
          <p:cNvPr id="20" name="Text 18"/>
          <p:cNvSpPr/>
          <p:nvPr/>
        </p:nvSpPr>
        <p:spPr>
          <a:xfrm>
            <a:off x="3291840" y="1554480"/>
            <a:ext cx="384048" cy="274320"/>
          </a:xfrm>
          <a:prstGeom prst="rect">
            <a:avLst/>
          </a:prstGeom>
          <a:noFill/>
          <a:ln/>
        </p:spPr>
        <p:txBody>
          <a:bodyPr wrap="square" rtlCol="0" anchor="ctr"/>
          <a:lstStyle/>
          <a:p>
            <a:pPr marL="0" indent="0" algn="ctr">
              <a:buNone/>
            </a:pPr>
            <a:r>
              <a:rPr lang="en-US" sz="900" b="1" dirty="0">
                <a:solidFill>
                  <a:srgbClr val="155E75"/>
                </a:solidFill>
                <a:latin typeface="Calibri" pitchFamily="34" charset="0"/>
                <a:ea typeface="Calibri" pitchFamily="34" charset="-122"/>
                <a:cs typeface="Calibri" pitchFamily="34" charset="-120"/>
              </a:rPr>
              <a:t>chunk</a:t>
            </a:r>
            <a:endParaRPr lang="en-US" sz="900" dirty="0"/>
          </a:p>
        </p:txBody>
      </p:sp>
      <p:sp>
        <p:nvSpPr>
          <p:cNvPr id="21" name="Text 19"/>
          <p:cNvSpPr/>
          <p:nvPr/>
        </p:nvSpPr>
        <p:spPr>
          <a:xfrm>
            <a:off x="3703320" y="1554480"/>
            <a:ext cx="932688" cy="274320"/>
          </a:xfrm>
          <a:prstGeom prst="rect">
            <a:avLst/>
          </a:prstGeom>
          <a:noFill/>
          <a:ln/>
        </p:spPr>
        <p:txBody>
          <a:bodyPr wrap="square" rtlCol="0" anchor="ctr"/>
          <a:lstStyle/>
          <a:p>
            <a:pPr marL="0" indent="0" algn="ctr">
              <a:buNone/>
            </a:pPr>
            <a:r>
              <a:rPr lang="en-US" sz="900" b="1" dirty="0">
                <a:solidFill>
                  <a:srgbClr val="155E75"/>
                </a:solidFill>
                <a:latin typeface="Calibri" pitchFamily="34" charset="0"/>
                <a:ea typeface="Calibri" pitchFamily="34" charset="-122"/>
                <a:cs typeface="Calibri" pitchFamily="34" charset="-120"/>
              </a:rPr>
              <a:t>path</a:t>
            </a:r>
            <a:endParaRPr lang="en-US" sz="900" dirty="0"/>
          </a:p>
        </p:txBody>
      </p:sp>
      <p:sp>
        <p:nvSpPr>
          <p:cNvPr id="22" name="Text 20"/>
          <p:cNvSpPr/>
          <p:nvPr/>
        </p:nvSpPr>
        <p:spPr>
          <a:xfrm>
            <a:off x="4663440" y="1554480"/>
            <a:ext cx="658368" cy="274320"/>
          </a:xfrm>
          <a:prstGeom prst="rect">
            <a:avLst/>
          </a:prstGeom>
          <a:noFill/>
          <a:ln/>
        </p:spPr>
        <p:txBody>
          <a:bodyPr wrap="square" rtlCol="0" anchor="ctr"/>
          <a:lstStyle/>
          <a:p>
            <a:pPr marL="0" indent="0" algn="ctr">
              <a:buNone/>
            </a:pPr>
            <a:r>
              <a:rPr lang="en-US" sz="900" b="1" dirty="0">
                <a:solidFill>
                  <a:srgbClr val="155E75"/>
                </a:solidFill>
                <a:latin typeface="Calibri" pitchFamily="34" charset="0"/>
                <a:ea typeface="Calibri" pitchFamily="34" charset="-122"/>
                <a:cs typeface="Calibri" pitchFamily="34" charset="-120"/>
              </a:rPr>
              <a:t>offset</a:t>
            </a:r>
            <a:endParaRPr lang="en-US" sz="900" dirty="0"/>
          </a:p>
        </p:txBody>
      </p:sp>
      <p:sp>
        <p:nvSpPr>
          <p:cNvPr id="23" name="Text 21"/>
          <p:cNvSpPr/>
          <p:nvPr/>
        </p:nvSpPr>
        <p:spPr>
          <a:xfrm>
            <a:off x="5349240" y="1554480"/>
            <a:ext cx="640080" cy="274320"/>
          </a:xfrm>
          <a:prstGeom prst="rect">
            <a:avLst/>
          </a:prstGeom>
          <a:noFill/>
          <a:ln/>
        </p:spPr>
        <p:txBody>
          <a:bodyPr wrap="square" rtlCol="0" anchor="ctr"/>
          <a:lstStyle/>
          <a:p>
            <a:pPr marL="0" indent="0" algn="ctr">
              <a:buNone/>
            </a:pPr>
            <a:r>
              <a:rPr lang="en-US" sz="900" b="1" dirty="0">
                <a:solidFill>
                  <a:srgbClr val="155E75"/>
                </a:solidFill>
                <a:latin typeface="Calibri" pitchFamily="34" charset="0"/>
                <a:ea typeface="Calibri" pitchFamily="34" charset="-122"/>
                <a:cs typeface="Calibri" pitchFamily="34" charset="-120"/>
              </a:rPr>
              <a:t>size</a:t>
            </a:r>
            <a:endParaRPr lang="en-US" sz="900" dirty="0"/>
          </a:p>
        </p:txBody>
      </p:sp>
      <p:sp>
        <p:nvSpPr>
          <p:cNvPr id="24" name="Text 22"/>
          <p:cNvSpPr/>
          <p:nvPr/>
        </p:nvSpPr>
        <p:spPr>
          <a:xfrm>
            <a:off x="3291840" y="1901952"/>
            <a:ext cx="38404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0,0</a:t>
            </a:r>
            <a:endParaRPr lang="en-US" sz="1000" dirty="0"/>
          </a:p>
        </p:txBody>
      </p:sp>
      <p:sp>
        <p:nvSpPr>
          <p:cNvPr id="25" name="Text 23"/>
          <p:cNvSpPr/>
          <p:nvPr/>
        </p:nvSpPr>
        <p:spPr>
          <a:xfrm>
            <a:off x="3703320" y="1901952"/>
            <a:ext cx="932688" cy="347472"/>
          </a:xfrm>
          <a:prstGeom prst="rect">
            <a:avLst/>
          </a:prstGeom>
          <a:noFill/>
          <a:ln/>
        </p:spPr>
        <p:txBody>
          <a:bodyPr wrap="square" rtlCol="0" anchor="ctr"/>
          <a:lstStyle/>
          <a:p>
            <a:pPr marL="0" indent="0" algn="ctr">
              <a:buNone/>
            </a:pPr>
            <a:r>
              <a:rPr lang="en-US" sz="1000" dirty="0">
                <a:solidFill>
                  <a:srgbClr val="1E293B"/>
                </a:solidFill>
                <a:latin typeface="Courier New" pitchFamily="34" charset="0"/>
                <a:ea typeface="Courier New" pitchFamily="34" charset="-122"/>
                <a:cs typeface="Courier New" pitchFamily="34" charset="-120"/>
              </a:rPr>
              <a:t>data.nc</a:t>
            </a:r>
            <a:endParaRPr lang="en-US" sz="1000" dirty="0"/>
          </a:p>
        </p:txBody>
      </p:sp>
      <p:sp>
        <p:nvSpPr>
          <p:cNvPr id="26" name="Text 24"/>
          <p:cNvSpPr/>
          <p:nvPr/>
        </p:nvSpPr>
        <p:spPr>
          <a:xfrm>
            <a:off x="4663440" y="1901952"/>
            <a:ext cx="65836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4096</a:t>
            </a:r>
            <a:endParaRPr lang="en-US" sz="1000" dirty="0"/>
          </a:p>
        </p:txBody>
      </p:sp>
      <p:sp>
        <p:nvSpPr>
          <p:cNvPr id="27" name="Text 25"/>
          <p:cNvSpPr/>
          <p:nvPr/>
        </p:nvSpPr>
        <p:spPr>
          <a:xfrm>
            <a:off x="5349240" y="1901952"/>
            <a:ext cx="640080"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8192</a:t>
            </a:r>
            <a:endParaRPr lang="en-US" sz="1000" dirty="0"/>
          </a:p>
        </p:txBody>
      </p:sp>
      <p:sp>
        <p:nvSpPr>
          <p:cNvPr id="28" name="Text 26"/>
          <p:cNvSpPr/>
          <p:nvPr/>
        </p:nvSpPr>
        <p:spPr>
          <a:xfrm>
            <a:off x="3291840" y="2322576"/>
            <a:ext cx="38404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29" name="Text 27"/>
          <p:cNvSpPr/>
          <p:nvPr/>
        </p:nvSpPr>
        <p:spPr>
          <a:xfrm>
            <a:off x="3703320" y="2322576"/>
            <a:ext cx="932688" cy="347472"/>
          </a:xfrm>
          <a:prstGeom prst="rect">
            <a:avLst/>
          </a:prstGeom>
          <a:noFill/>
          <a:ln/>
        </p:spPr>
        <p:txBody>
          <a:bodyPr wrap="square" rtlCol="0" anchor="ctr"/>
          <a:lstStyle/>
          <a:p>
            <a:pPr marL="0" indent="0" algn="ctr">
              <a:buNone/>
            </a:pPr>
            <a:r>
              <a:rPr lang="en-US" sz="1000" dirty="0">
                <a:solidFill>
                  <a:srgbClr val="1E293B"/>
                </a:solidFill>
                <a:latin typeface="Courier New" pitchFamily="34" charset="0"/>
                <a:ea typeface="Courier New" pitchFamily="34" charset="-122"/>
                <a:cs typeface="Courier New" pitchFamily="34" charset="-120"/>
              </a:rPr>
              <a:t>data.nc</a:t>
            </a:r>
            <a:endParaRPr lang="en-US" sz="1000" dirty="0"/>
          </a:p>
        </p:txBody>
      </p:sp>
      <p:sp>
        <p:nvSpPr>
          <p:cNvPr id="30" name="Text 28"/>
          <p:cNvSpPr/>
          <p:nvPr/>
        </p:nvSpPr>
        <p:spPr>
          <a:xfrm>
            <a:off x="4663440" y="2322576"/>
            <a:ext cx="65836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12288</a:t>
            </a:r>
            <a:endParaRPr lang="en-US" sz="1000" dirty="0"/>
          </a:p>
        </p:txBody>
      </p:sp>
      <p:sp>
        <p:nvSpPr>
          <p:cNvPr id="31" name="Text 29"/>
          <p:cNvSpPr/>
          <p:nvPr/>
        </p:nvSpPr>
        <p:spPr>
          <a:xfrm>
            <a:off x="5349240" y="2322576"/>
            <a:ext cx="640080"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8192</a:t>
            </a:r>
            <a:endParaRPr lang="en-US" sz="1000" dirty="0"/>
          </a:p>
        </p:txBody>
      </p:sp>
      <p:sp>
        <p:nvSpPr>
          <p:cNvPr id="32" name="Text 30"/>
          <p:cNvSpPr/>
          <p:nvPr/>
        </p:nvSpPr>
        <p:spPr>
          <a:xfrm>
            <a:off x="3291840" y="2743200"/>
            <a:ext cx="38404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1,0</a:t>
            </a:r>
            <a:endParaRPr lang="en-US" sz="1000" dirty="0"/>
          </a:p>
        </p:txBody>
      </p:sp>
      <p:sp>
        <p:nvSpPr>
          <p:cNvPr id="33" name="Text 31"/>
          <p:cNvSpPr/>
          <p:nvPr/>
        </p:nvSpPr>
        <p:spPr>
          <a:xfrm>
            <a:off x="3703320" y="2743200"/>
            <a:ext cx="932688" cy="347472"/>
          </a:xfrm>
          <a:prstGeom prst="rect">
            <a:avLst/>
          </a:prstGeom>
          <a:noFill/>
          <a:ln/>
        </p:spPr>
        <p:txBody>
          <a:bodyPr wrap="square" rtlCol="0" anchor="ctr"/>
          <a:lstStyle/>
          <a:p>
            <a:pPr marL="0" indent="0" algn="ctr">
              <a:buNone/>
            </a:pPr>
            <a:r>
              <a:rPr lang="en-US" sz="1000" dirty="0">
                <a:solidFill>
                  <a:srgbClr val="1E293B"/>
                </a:solidFill>
                <a:latin typeface="Courier New" pitchFamily="34" charset="0"/>
                <a:ea typeface="Courier New" pitchFamily="34" charset="-122"/>
                <a:cs typeface="Courier New" pitchFamily="34" charset="-120"/>
              </a:rPr>
              <a:t>data.nc</a:t>
            </a:r>
            <a:endParaRPr lang="en-US" sz="1000" dirty="0"/>
          </a:p>
        </p:txBody>
      </p:sp>
      <p:sp>
        <p:nvSpPr>
          <p:cNvPr id="34" name="Text 32"/>
          <p:cNvSpPr/>
          <p:nvPr/>
        </p:nvSpPr>
        <p:spPr>
          <a:xfrm>
            <a:off x="4663440" y="2743200"/>
            <a:ext cx="65836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20480</a:t>
            </a:r>
            <a:endParaRPr lang="en-US" sz="1000" dirty="0"/>
          </a:p>
        </p:txBody>
      </p:sp>
      <p:sp>
        <p:nvSpPr>
          <p:cNvPr id="35" name="Text 33"/>
          <p:cNvSpPr/>
          <p:nvPr/>
        </p:nvSpPr>
        <p:spPr>
          <a:xfrm>
            <a:off x="5349240" y="2743200"/>
            <a:ext cx="640080"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8192</a:t>
            </a:r>
            <a:endParaRPr lang="en-US" sz="1000" dirty="0"/>
          </a:p>
        </p:txBody>
      </p:sp>
      <p:sp>
        <p:nvSpPr>
          <p:cNvPr id="36" name="Text 34"/>
          <p:cNvSpPr/>
          <p:nvPr/>
        </p:nvSpPr>
        <p:spPr>
          <a:xfrm>
            <a:off x="3291840" y="3163824"/>
            <a:ext cx="38404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3703320" y="3163824"/>
            <a:ext cx="932688" cy="347472"/>
          </a:xfrm>
          <a:prstGeom prst="rect">
            <a:avLst/>
          </a:prstGeom>
          <a:noFill/>
          <a:ln/>
        </p:spPr>
        <p:txBody>
          <a:bodyPr wrap="square" rtlCol="0" anchor="ctr"/>
          <a:lstStyle/>
          <a:p>
            <a:pPr marL="0" indent="0" algn="ctr">
              <a:buNone/>
            </a:pPr>
            <a:r>
              <a:rPr lang="en-US" sz="1000" dirty="0">
                <a:solidFill>
                  <a:srgbClr val="1E293B"/>
                </a:solidFill>
                <a:latin typeface="Courier New" pitchFamily="34" charset="0"/>
                <a:ea typeface="Courier New" pitchFamily="34" charset="-122"/>
                <a:cs typeface="Courier New" pitchFamily="34" charset="-120"/>
              </a:rPr>
              <a:t>…</a:t>
            </a:r>
            <a:endParaRPr lang="en-US" sz="1000" dirty="0"/>
          </a:p>
        </p:txBody>
      </p:sp>
      <p:sp>
        <p:nvSpPr>
          <p:cNvPr id="38" name="Text 36"/>
          <p:cNvSpPr/>
          <p:nvPr/>
        </p:nvSpPr>
        <p:spPr>
          <a:xfrm>
            <a:off x="4663440" y="3163824"/>
            <a:ext cx="658368"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5349240" y="3163824"/>
            <a:ext cx="640080" cy="347472"/>
          </a:xfrm>
          <a:prstGeom prst="rect">
            <a:avLst/>
          </a:prstGeom>
          <a:noFill/>
          <a:ln/>
        </p:spPr>
        <p:txBody>
          <a:bodyPr wrap="square"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6172200" y="2606040"/>
            <a:ext cx="594360" cy="0"/>
          </a:xfrm>
          <a:prstGeom prst="line">
            <a:avLst/>
          </a:prstGeom>
          <a:noFill/>
          <a:ln w="31750">
            <a:solidFill>
              <a:srgbClr val="0E7490"/>
            </a:solidFill>
            <a:prstDash val="solid"/>
          </a:ln>
        </p:spPr>
      </p:sp>
      <p:sp>
        <p:nvSpPr>
          <p:cNvPr id="41" name="Text 39"/>
          <p:cNvSpPr/>
          <p:nvPr/>
        </p:nvSpPr>
        <p:spPr>
          <a:xfrm>
            <a:off x="6492240" y="2423160"/>
            <a:ext cx="365760" cy="365760"/>
          </a:xfrm>
          <a:prstGeom prst="rect">
            <a:avLst/>
          </a:prstGeom>
          <a:noFill/>
          <a:ln/>
        </p:spPr>
        <p:txBody>
          <a:bodyPr wrap="square" rtlCol="0" anchor="ctr"/>
          <a:lstStyle/>
          <a:p>
            <a:pPr marL="0" indent="0" algn="ctr">
              <a:buNone/>
            </a:pPr>
            <a:r>
              <a:rPr lang="en-US" sz="1800" dirty="0">
                <a:solidFill>
                  <a:srgbClr val="0E7490"/>
                </a:solidFill>
              </a:rPr>
              <a:t>→</a:t>
            </a:r>
            <a:endParaRPr lang="en-US" sz="1800" dirty="0"/>
          </a:p>
        </p:txBody>
      </p:sp>
      <p:sp>
        <p:nvSpPr>
          <p:cNvPr id="42" name="Text 40"/>
          <p:cNvSpPr/>
          <p:nvPr/>
        </p:nvSpPr>
        <p:spPr>
          <a:xfrm>
            <a:off x="6126480" y="2788920"/>
            <a:ext cx="731520" cy="502920"/>
          </a:xfrm>
          <a:prstGeom prst="rect">
            <a:avLst/>
          </a:prstGeom>
          <a:noFill/>
          <a:ln/>
        </p:spPr>
        <p:txBody>
          <a:bodyPr wrap="square" rtlCol="0" anchor="ctr"/>
          <a:lstStyle/>
          <a:p>
            <a:pPr marL="0" indent="0" algn="ctr">
              <a:buNone/>
            </a:pPr>
            <a:r>
              <a:rPr lang="en-US" sz="900" i="1" dirty="0">
                <a:solidFill>
                  <a:srgbClr val="155E75"/>
                </a:solidFill>
                <a:latin typeface="Calibri" pitchFamily="34" charset="0"/>
                <a:ea typeface="Calibri" pitchFamily="34" charset="-122"/>
                <a:cs typeface="Calibri" pitchFamily="34" charset="-120"/>
              </a:rPr>
              <a:t>looks like</a:t>
            </a:r>
            <a:endParaRPr lang="en-US" sz="900" dirty="0"/>
          </a:p>
          <a:p>
            <a:pPr marL="0" indent="0" algn="ctr">
              <a:buNone/>
            </a:pPr>
            <a:r>
              <a:rPr lang="en-US" sz="900" i="1" dirty="0">
                <a:solidFill>
                  <a:srgbClr val="155E75"/>
                </a:solidFill>
                <a:latin typeface="Calibri" pitchFamily="34" charset="0"/>
                <a:ea typeface="Calibri" pitchFamily="34" charset="-122"/>
                <a:cs typeface="Calibri" pitchFamily="34" charset="-120"/>
              </a:rPr>
              <a:t>Zarr</a:t>
            </a:r>
            <a:endParaRPr lang="en-US" sz="900" dirty="0"/>
          </a:p>
        </p:txBody>
      </p:sp>
      <p:sp>
        <p:nvSpPr>
          <p:cNvPr id="43" name="Shape 41"/>
          <p:cNvSpPr/>
          <p:nvPr/>
        </p:nvSpPr>
        <p:spPr>
          <a:xfrm>
            <a:off x="6812280" y="1097280"/>
            <a:ext cx="2011680" cy="3017520"/>
          </a:xfrm>
          <a:prstGeom prst="roundRect">
            <a:avLst>
              <a:gd name="adj" fmla="val 4545"/>
            </a:avLst>
          </a:prstGeom>
          <a:solidFill>
            <a:srgbClr val="F0FDF4"/>
          </a:solidFill>
          <a:ln w="25400">
            <a:solidFill>
              <a:srgbClr val="10B981"/>
            </a:solidFill>
            <a:prstDash val="solid"/>
          </a:ln>
        </p:spPr>
      </p:sp>
      <p:sp>
        <p:nvSpPr>
          <p:cNvPr id="44" name="Text 42"/>
          <p:cNvSpPr/>
          <p:nvPr/>
        </p:nvSpPr>
        <p:spPr>
          <a:xfrm>
            <a:off x="6812280" y="1097280"/>
            <a:ext cx="2011680" cy="411480"/>
          </a:xfrm>
          <a:prstGeom prst="rect">
            <a:avLst/>
          </a:prstGeom>
          <a:noFill/>
          <a:ln/>
        </p:spPr>
        <p:txBody>
          <a:bodyPr wrap="square"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Virtual Zarr store</a:t>
            </a:r>
            <a:endParaRPr lang="en-US" sz="1200" dirty="0"/>
          </a:p>
        </p:txBody>
      </p:sp>
      <p:sp>
        <p:nvSpPr>
          <p:cNvPr id="45" name="Text 43"/>
          <p:cNvSpPr/>
          <p:nvPr/>
        </p:nvSpPr>
        <p:spPr>
          <a:xfrm>
            <a:off x="6858000" y="1600200"/>
            <a:ext cx="1920240" cy="2377440"/>
          </a:xfrm>
          <a:prstGeom prst="rect">
            <a:avLst/>
          </a:prstGeom>
          <a:noFill/>
          <a:ln/>
        </p:spPr>
        <p:txBody>
          <a:bodyPr wrap="square" rtlCol="0" anchor="t"/>
          <a:lstStyle/>
          <a:p>
            <a:pPr marL="0" indent="0" algn="ctr">
              <a:buNone/>
            </a:pPr>
            <a:r>
              <a:rPr lang="en-US" sz="1100" dirty="0">
                <a:solidFill>
                  <a:srgbClr val="166534"/>
                </a:solidFill>
                <a:latin typeface="Calibri" pitchFamily="34" charset="0"/>
                <a:ea typeface="Calibri" pitchFamily="34" charset="-122"/>
                <a:cs typeface="Calibri" pitchFamily="34" charset="-120"/>
              </a:rPr>
              <a:t>xarray / zarr-python</a:t>
            </a:r>
            <a:endParaRPr lang="en-US" sz="1100" dirty="0"/>
          </a:p>
          <a:p>
            <a:pPr marL="0" indent="0" algn="ctr">
              <a:buNone/>
            </a:pPr>
            <a:r>
              <a:rPr lang="en-US" sz="1100" dirty="0">
                <a:solidFill>
                  <a:srgbClr val="166534"/>
                </a:solidFill>
                <a:latin typeface="Calibri" pitchFamily="34" charset="0"/>
                <a:ea typeface="Calibri" pitchFamily="34" charset="-122"/>
                <a:cs typeface="Calibri" pitchFamily="34" charset="-120"/>
              </a:rPr>
              <a:t>see native Zarr</a:t>
            </a:r>
            <a:endParaRPr lang="en-US" sz="1100" dirty="0"/>
          </a:p>
          <a:p>
            <a:pPr marL="0" indent="0" algn="ctr">
              <a:buNone/>
            </a:pPr>
            <a:endParaRPr lang="en-US" sz="1100" dirty="0"/>
          </a:p>
          <a:p>
            <a:pPr marL="0" indent="0" algn="ctr">
              <a:buNone/>
            </a:pPr>
            <a:r>
              <a:rPr lang="en-US" sz="1100" dirty="0">
                <a:solidFill>
                  <a:srgbClr val="166534"/>
                </a:solidFill>
                <a:latin typeface="Calibri" pitchFamily="34" charset="0"/>
                <a:ea typeface="Calibri" pitchFamily="34" charset="-122"/>
                <a:cs typeface="Calibri" pitchFamily="34" charset="-120"/>
              </a:rPr>
              <a:t>No data moved.</a:t>
            </a:r>
            <a:endParaRPr lang="en-US" sz="1100" dirty="0"/>
          </a:p>
          <a:p>
            <a:pPr marL="0" indent="0" algn="ctr">
              <a:buNone/>
            </a:pPr>
            <a:r>
              <a:rPr lang="en-US" sz="1100" dirty="0">
                <a:solidFill>
                  <a:srgbClr val="166534"/>
                </a:solidFill>
                <a:latin typeface="Calibri" pitchFamily="34" charset="0"/>
                <a:ea typeface="Calibri" pitchFamily="34" charset="-122"/>
                <a:cs typeface="Calibri" pitchFamily="34" charset="-120"/>
              </a:rPr>
              <a:t>No copy made.</a:t>
            </a:r>
            <a:endParaRPr lang="en-US" sz="1100" dirty="0"/>
          </a:p>
          <a:p>
            <a:pPr marL="0" indent="0" algn="ctr">
              <a:buNone/>
            </a:pPr>
            <a:endParaRPr lang="en-US" sz="1100" dirty="0"/>
          </a:p>
          <a:p>
            <a:pPr marL="0" indent="0" algn="ctr">
              <a:buNone/>
            </a:pPr>
            <a:r>
              <a:rPr lang="en-US" sz="1100" dirty="0">
                <a:solidFill>
                  <a:srgbClr val="166534"/>
                </a:solidFill>
                <a:latin typeface="Calibri" pitchFamily="34" charset="0"/>
                <a:ea typeface="Calibri" pitchFamily="34" charset="-122"/>
                <a:cs typeface="Calibri" pitchFamily="34" charset="-120"/>
              </a:rPr>
              <a:t>Data stays in</a:t>
            </a:r>
            <a:endParaRPr lang="en-US" sz="1100" dirty="0"/>
          </a:p>
          <a:p>
            <a:pPr marL="0" indent="0" algn="ctr">
              <a:buNone/>
            </a:pPr>
            <a:r>
              <a:rPr lang="en-US" sz="1100" dirty="0">
                <a:solidFill>
                  <a:srgbClr val="166534"/>
                </a:solidFill>
                <a:latin typeface="Calibri" pitchFamily="34" charset="0"/>
                <a:ea typeface="Calibri" pitchFamily="34" charset="-122"/>
                <a:cs typeface="Calibri" pitchFamily="34" charset="-120"/>
              </a:rPr>
              <a:t>original files.</a:t>
            </a:r>
            <a:endParaRPr lang="en-US" sz="1100" dirty="0"/>
          </a:p>
        </p:txBody>
      </p:sp>
      <p:sp>
        <p:nvSpPr>
          <p:cNvPr id="46" name="Shape 44"/>
          <p:cNvSpPr/>
          <p:nvPr/>
        </p:nvSpPr>
        <p:spPr>
          <a:xfrm>
            <a:off x="320040" y="4297680"/>
            <a:ext cx="8503920" cy="566928"/>
          </a:xfrm>
          <a:prstGeom prst="roundRect">
            <a:avLst>
              <a:gd name="adj" fmla="val 16129"/>
            </a:avLst>
          </a:prstGeom>
          <a:solidFill>
            <a:srgbClr val="0A1628"/>
          </a:solidFill>
          <a:ln/>
        </p:spPr>
      </p:sp>
      <p:sp>
        <p:nvSpPr>
          <p:cNvPr id="47" name="Text 45"/>
          <p:cNvSpPr/>
          <p:nvPr/>
        </p:nvSpPr>
        <p:spPr>
          <a:xfrm>
            <a:off x="320040" y="4297680"/>
            <a:ext cx="8503920" cy="566928"/>
          </a:xfrm>
          <a:prstGeom prst="rect">
            <a:avLst/>
          </a:prstGeom>
          <a:noFill/>
          <a:ln/>
        </p:spPr>
        <p:txBody>
          <a:bodyPr wrap="square" rtlCol="0" anchor="ctr"/>
          <a:lstStyle/>
          <a:p>
            <a:pPr marL="0" indent="0" algn="ctr">
              <a:buNone/>
            </a:pPr>
            <a:r>
              <a:rPr lang="en-US" sz="1400" b="1" dirty="0">
                <a:solidFill>
                  <a:srgbClr val="22D3EE"/>
                </a:solidFill>
                <a:latin typeface="Calibri" pitchFamily="34" charset="0"/>
                <a:ea typeface="Calibri" pitchFamily="34" charset="-122"/>
                <a:cs typeface="Calibri" pitchFamily="34" charset="-120"/>
              </a:rPr>
              <a:t>a reference is just (path, byte-offset, byte-length)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marL="0" indent="0">
              <a:buNone/>
            </a:pPr>
            <a:r>
              <a:rPr lang="en-US" sz="3200" b="1" dirty="0">
                <a:solidFill>
                  <a:srgbClr val="1E293B"/>
                </a:solidFill>
                <a:latin typeface="Cambria" pitchFamily="34" charset="0"/>
                <a:ea typeface="Cambria" pitchFamily="34" charset="-122"/>
                <a:cs typeface="Cambria" pitchFamily="34" charset="-120"/>
              </a:rPr>
              <a:t>VRT: virtualization at the file level</a:t>
            </a:r>
            <a:endParaRPr lang="en-US" sz="3200" dirty="0"/>
          </a:p>
        </p:txBody>
      </p:sp>
      <p:sp>
        <p:nvSpPr>
          <p:cNvPr id="3" name="Shape 1"/>
          <p:cNvSpPr/>
          <p:nvPr/>
        </p:nvSpPr>
        <p:spPr>
          <a:xfrm>
            <a:off x="320040" y="1463040"/>
            <a:ext cx="8001000" cy="0"/>
          </a:xfrm>
          <a:prstGeom prst="line">
            <a:avLst/>
          </a:prstGeom>
          <a:noFill/>
          <a:ln w="38100">
            <a:solidFill>
              <a:srgbClr val="E2E8F0"/>
            </a:solidFill>
            <a:prstDash val="solid"/>
          </a:ln>
        </p:spPr>
      </p:sp>
      <p:sp>
        <p:nvSpPr>
          <p:cNvPr id="4" name="Shape 2"/>
          <p:cNvSpPr/>
          <p:nvPr/>
        </p:nvSpPr>
        <p:spPr>
          <a:xfrm>
            <a:off x="274320" y="1143000"/>
            <a:ext cx="1737360" cy="640080"/>
          </a:xfrm>
          <a:prstGeom prst="roundRect">
            <a:avLst>
              <a:gd name="adj" fmla="val 14286"/>
            </a:avLst>
          </a:prstGeom>
          <a:solidFill>
            <a:srgbClr val="F59E0B"/>
          </a:solidFill>
          <a:ln/>
          <a:effectLst>
            <a:outerShdw blurRad="76200" dist="25400" dir="2700000" algn="bl" rotWithShape="0">
              <a:srgbClr val="000000">
                <a:alpha val="15000"/>
              </a:srgbClr>
            </a:outerShdw>
          </a:effectLst>
        </p:spPr>
      </p:sp>
      <p:sp>
        <p:nvSpPr>
          <p:cNvPr id="5" name="Text 3"/>
          <p:cNvSpPr/>
          <p:nvPr/>
        </p:nvSpPr>
        <p:spPr>
          <a:xfrm>
            <a:off x="274320" y="1143000"/>
            <a:ext cx="173736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Original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HDF5 files</a:t>
            </a:r>
            <a:endParaRPr lang="en-US" sz="1300" dirty="0"/>
          </a:p>
        </p:txBody>
      </p:sp>
      <p:sp>
        <p:nvSpPr>
          <p:cNvPr id="6" name="Text 4"/>
          <p:cNvSpPr/>
          <p:nvPr/>
        </p:nvSpPr>
        <p:spPr>
          <a:xfrm>
            <a:off x="274320" y="1581912"/>
            <a:ext cx="1737360" cy="201168"/>
          </a:xfrm>
          <a:prstGeom prst="rect">
            <a:avLst/>
          </a:prstGeom>
          <a:noFill/>
          <a:ln/>
        </p:spPr>
        <p:txBody>
          <a:bodyPr wrap="square" rtlCol="0" anchor="ctr"/>
          <a:lstStyle/>
          <a:p>
            <a:pPr marL="0" indent="0" algn="ctr">
              <a:buNone/>
            </a:pPr>
            <a:r>
              <a:rPr lang="en-US" sz="850" i="1" dirty="0">
                <a:solidFill>
                  <a:srgbClr val="FFFFFF"/>
                </a:solidFill>
                <a:latin typeface="Calibri" pitchFamily="34" charset="0"/>
                <a:ea typeface="Calibri" pitchFamily="34" charset="-122"/>
                <a:cs typeface="Calibri" pitchFamily="34" charset="-120"/>
              </a:rPr>
              <a:t>fully material</a:t>
            </a:r>
            <a:endParaRPr lang="en-US" sz="850" dirty="0"/>
          </a:p>
        </p:txBody>
      </p:sp>
      <p:sp>
        <p:nvSpPr>
          <p:cNvPr id="7" name="Shape 5"/>
          <p:cNvSpPr/>
          <p:nvPr/>
        </p:nvSpPr>
        <p:spPr>
          <a:xfrm>
            <a:off x="2286000" y="1143000"/>
            <a:ext cx="1737360" cy="640080"/>
          </a:xfrm>
          <a:prstGeom prst="roundRect">
            <a:avLst>
              <a:gd name="adj" fmla="val 14286"/>
            </a:avLst>
          </a:prstGeom>
          <a:solidFill>
            <a:srgbClr val="0E7490"/>
          </a:solidFill>
          <a:ln/>
          <a:effectLst>
            <a:outerShdw blurRad="76200" dist="25400" dir="2700000" algn="bl" rotWithShape="0">
              <a:srgbClr val="000000">
                <a:alpha val="15000"/>
              </a:srgbClr>
            </a:outerShdw>
          </a:effectLst>
        </p:spPr>
      </p:sp>
      <p:sp>
        <p:nvSpPr>
          <p:cNvPr id="8" name="Text 6"/>
          <p:cNvSpPr/>
          <p:nvPr/>
        </p:nvSpPr>
        <p:spPr>
          <a:xfrm>
            <a:off x="2286000" y="1143000"/>
            <a:ext cx="173736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GDAL VRT</a:t>
            </a:r>
            <a:endParaRPr lang="en-US" sz="1300" dirty="0"/>
          </a:p>
        </p:txBody>
      </p:sp>
      <p:sp>
        <p:nvSpPr>
          <p:cNvPr id="9" name="Text 7"/>
          <p:cNvSpPr/>
          <p:nvPr/>
        </p:nvSpPr>
        <p:spPr>
          <a:xfrm>
            <a:off x="2286000" y="1581912"/>
            <a:ext cx="1737360" cy="201168"/>
          </a:xfrm>
          <a:prstGeom prst="rect">
            <a:avLst/>
          </a:prstGeom>
          <a:noFill/>
          <a:ln/>
        </p:spPr>
        <p:txBody>
          <a:bodyPr wrap="square" rtlCol="0" anchor="ctr"/>
          <a:lstStyle/>
          <a:p>
            <a:pPr marL="0" indent="0" algn="ctr">
              <a:buNone/>
            </a:pPr>
            <a:r>
              <a:rPr lang="en-US" sz="850" i="1" dirty="0">
                <a:solidFill>
                  <a:srgbClr val="FFFFFF"/>
                </a:solidFill>
                <a:latin typeface="Calibri" pitchFamily="34" charset="0"/>
                <a:ea typeface="Calibri" pitchFamily="34" charset="-122"/>
                <a:cs typeface="Calibri" pitchFamily="34" charset="-120"/>
              </a:rPr>
              <a:t>file-level virtual</a:t>
            </a:r>
            <a:endParaRPr lang="en-US" sz="850" dirty="0"/>
          </a:p>
        </p:txBody>
      </p:sp>
      <p:sp>
        <p:nvSpPr>
          <p:cNvPr id="10" name="Shape 8"/>
          <p:cNvSpPr/>
          <p:nvPr/>
        </p:nvSpPr>
        <p:spPr>
          <a:xfrm>
            <a:off x="4297680" y="1143000"/>
            <a:ext cx="1737360" cy="640080"/>
          </a:xfrm>
          <a:prstGeom prst="roundRect">
            <a:avLst>
              <a:gd name="adj" fmla="val 14286"/>
            </a:avLst>
          </a:prstGeom>
          <a:solidFill>
            <a:srgbClr val="155E75"/>
          </a:solidFill>
          <a:ln/>
          <a:effectLst>
            <a:outerShdw blurRad="76200" dist="25400" dir="2700000" algn="bl" rotWithShape="0">
              <a:srgbClr val="000000">
                <a:alpha val="15000"/>
              </a:srgbClr>
            </a:outerShdw>
          </a:effectLst>
        </p:spPr>
      </p:sp>
      <p:sp>
        <p:nvSpPr>
          <p:cNvPr id="11" name="Text 9"/>
          <p:cNvSpPr/>
          <p:nvPr/>
        </p:nvSpPr>
        <p:spPr>
          <a:xfrm>
            <a:off x="4297680" y="1143000"/>
            <a:ext cx="173736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kerchunk</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Parquet refs</a:t>
            </a:r>
            <a:endParaRPr lang="en-US" sz="1300" dirty="0"/>
          </a:p>
        </p:txBody>
      </p:sp>
      <p:sp>
        <p:nvSpPr>
          <p:cNvPr id="12" name="Text 10"/>
          <p:cNvSpPr/>
          <p:nvPr/>
        </p:nvSpPr>
        <p:spPr>
          <a:xfrm>
            <a:off x="4297680" y="1581912"/>
            <a:ext cx="1737360" cy="201168"/>
          </a:xfrm>
          <a:prstGeom prst="rect">
            <a:avLst/>
          </a:prstGeom>
          <a:noFill/>
          <a:ln/>
        </p:spPr>
        <p:txBody>
          <a:bodyPr wrap="square" rtlCol="0" anchor="ctr"/>
          <a:lstStyle/>
          <a:p>
            <a:pPr marL="0" indent="0" algn="ctr">
              <a:buNone/>
            </a:pPr>
            <a:r>
              <a:rPr lang="en-US" sz="850" i="1" dirty="0">
                <a:solidFill>
                  <a:srgbClr val="FFFFFF"/>
                </a:solidFill>
                <a:latin typeface="Calibri" pitchFamily="34" charset="0"/>
                <a:ea typeface="Calibri" pitchFamily="34" charset="-122"/>
                <a:cs typeface="Calibri" pitchFamily="34" charset="-120"/>
              </a:rPr>
              <a:t>chunk-level virtual</a:t>
            </a:r>
            <a:endParaRPr lang="en-US" sz="850" dirty="0"/>
          </a:p>
        </p:txBody>
      </p:sp>
      <p:sp>
        <p:nvSpPr>
          <p:cNvPr id="13" name="Shape 11"/>
          <p:cNvSpPr/>
          <p:nvPr/>
        </p:nvSpPr>
        <p:spPr>
          <a:xfrm>
            <a:off x="6309360" y="1143000"/>
            <a:ext cx="1737360" cy="640080"/>
          </a:xfrm>
          <a:prstGeom prst="roundRect">
            <a:avLst>
              <a:gd name="adj" fmla="val 14286"/>
            </a:avLst>
          </a:prstGeom>
          <a:solidFill>
            <a:srgbClr val="10B981"/>
          </a:solidFill>
          <a:ln/>
          <a:effectLst>
            <a:outerShdw blurRad="76200" dist="25400" dir="2700000" algn="bl" rotWithShape="0">
              <a:srgbClr val="000000">
                <a:alpha val="15000"/>
              </a:srgbClr>
            </a:outerShdw>
          </a:effectLst>
        </p:spPr>
      </p:sp>
      <p:sp>
        <p:nvSpPr>
          <p:cNvPr id="14" name="Text 12"/>
          <p:cNvSpPr/>
          <p:nvPr/>
        </p:nvSpPr>
        <p:spPr>
          <a:xfrm>
            <a:off x="6309360" y="1143000"/>
            <a:ext cx="1737360"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Zarr store</a:t>
            </a:r>
            <a:endParaRPr lang="en-US" sz="1300" dirty="0"/>
          </a:p>
        </p:txBody>
      </p:sp>
      <p:sp>
        <p:nvSpPr>
          <p:cNvPr id="15" name="Text 13"/>
          <p:cNvSpPr/>
          <p:nvPr/>
        </p:nvSpPr>
        <p:spPr>
          <a:xfrm>
            <a:off x="6309360" y="1581912"/>
            <a:ext cx="1737360" cy="201168"/>
          </a:xfrm>
          <a:prstGeom prst="rect">
            <a:avLst/>
          </a:prstGeom>
          <a:noFill/>
          <a:ln/>
        </p:spPr>
        <p:txBody>
          <a:bodyPr wrap="square" rtlCol="0" anchor="ctr"/>
          <a:lstStyle/>
          <a:p>
            <a:pPr marL="0" indent="0" algn="ctr">
              <a:buNone/>
            </a:pPr>
            <a:r>
              <a:rPr lang="en-US" sz="850" i="1" dirty="0">
                <a:solidFill>
                  <a:srgbClr val="FFFFFF"/>
                </a:solidFill>
                <a:latin typeface="Calibri" pitchFamily="34" charset="0"/>
                <a:ea typeface="Calibri" pitchFamily="34" charset="-122"/>
                <a:cs typeface="Calibri" pitchFamily="34" charset="-120"/>
              </a:rPr>
              <a:t>virtual or material</a:t>
            </a:r>
            <a:endParaRPr lang="en-US" sz="850" dirty="0"/>
          </a:p>
        </p:txBody>
      </p:sp>
      <p:sp>
        <p:nvSpPr>
          <p:cNvPr id="16" name="Text 14"/>
          <p:cNvSpPr/>
          <p:nvPr/>
        </p:nvSpPr>
        <p:spPr>
          <a:xfrm>
            <a:off x="2194560" y="1280160"/>
            <a:ext cx="274320" cy="365760"/>
          </a:xfrm>
          <a:prstGeom prst="rect">
            <a:avLst/>
          </a:prstGeom>
          <a:noFill/>
          <a:ln/>
        </p:spPr>
        <p:txBody>
          <a:bodyPr wrap="square" rtlCol="0" anchor="ctr"/>
          <a:lstStyle/>
          <a:p>
            <a:pPr marL="0" indent="0" algn="ctr">
              <a:buNone/>
            </a:pPr>
            <a:r>
              <a:rPr lang="en-US" sz="2000" dirty="0">
                <a:solidFill>
                  <a:srgbClr val="1E293B"/>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4206240" y="1280160"/>
            <a:ext cx="274320" cy="365760"/>
          </a:xfrm>
          <a:prstGeom prst="rect">
            <a:avLst/>
          </a:prstGeom>
          <a:noFill/>
          <a:ln/>
        </p:spPr>
        <p:txBody>
          <a:bodyPr wrap="square" rtlCol="0" anchor="ctr"/>
          <a:lstStyle/>
          <a:p>
            <a:pPr marL="0" indent="0" algn="ctr">
              <a:buNone/>
            </a:pPr>
            <a:r>
              <a:rPr lang="en-US" sz="2000" dirty="0">
                <a:solidFill>
                  <a:srgbClr val="1E293B"/>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6217920" y="1280160"/>
            <a:ext cx="274320" cy="365760"/>
          </a:xfrm>
          <a:prstGeom prst="rect">
            <a:avLst/>
          </a:prstGeom>
          <a:noFill/>
          <a:ln/>
        </p:spPr>
        <p:txBody>
          <a:bodyPr wrap="square" rtlCol="0" anchor="ctr"/>
          <a:lstStyle/>
          <a:p>
            <a:pPr marL="0" indent="0" algn="ctr">
              <a:buNone/>
            </a:pPr>
            <a:r>
              <a:rPr lang="en-US" sz="2000" dirty="0">
                <a:solidFill>
                  <a:srgbClr val="1E293B"/>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457200" y="2103120"/>
            <a:ext cx="4114800" cy="91440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A GDAL VRT is an XML recipe — mosaic</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16 years of NetCDF into one logical array,</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without copying data.</a:t>
            </a:r>
            <a:endParaRPr lang="en-US" sz="1300" dirty="0"/>
          </a:p>
        </p:txBody>
      </p:sp>
      <p:sp>
        <p:nvSpPr>
          <p:cNvPr id="20" name="Text 18"/>
          <p:cNvSpPr/>
          <p:nvPr/>
        </p:nvSpPr>
        <p:spPr>
          <a:xfrm>
            <a:off x="457200" y="3090672"/>
            <a:ext cx="4114800" cy="658368"/>
          </a:xfrm>
          <a:prstGeom prst="rect">
            <a:avLst/>
          </a:prstGeom>
          <a:noFill/>
          <a:ln/>
        </p:spPr>
        <p:txBody>
          <a:bodyPr wrap="square" rtlCol="0" anchor="t"/>
          <a:lstStyle/>
          <a:p>
            <a:pPr marL="0" indent="0">
              <a:buNone/>
            </a:pPr>
            <a:r>
              <a:rPr lang="en-US" sz="1300" b="1" dirty="0">
                <a:solidFill>
                  <a:srgbClr val="0E7490"/>
                </a:solidFill>
                <a:latin typeface="Calibri" pitchFamily="34" charset="0"/>
                <a:ea typeface="Calibri" pitchFamily="34" charset="-122"/>
                <a:cs typeface="Calibri" pitchFamily="34" charset="-120"/>
              </a:rPr>
              <a:t>a pivot point</a:t>
            </a:r>
            <a:r>
              <a:rPr lang="en-US" sz="1300" dirty="0">
                <a:solidFill>
                  <a:srgbClr val="1E293B"/>
                </a:solidFill>
                <a:latin typeface="Calibri" pitchFamily="34" charset="0"/>
                <a:ea typeface="Calibri" pitchFamily="34" charset="-122"/>
                <a:cs typeface="Calibri" pitchFamily="34" charset="-120"/>
              </a:rPr>
              <a:t> — GDAL already knows where every subfile chunk lives. virtualization is another step:</a:t>
            </a:r>
            <a:endParaRPr lang="en-US" sz="1300" dirty="0"/>
          </a:p>
        </p:txBody>
      </p:sp>
      <p:sp>
        <p:nvSpPr>
          <p:cNvPr id="21" name="Shape 19"/>
          <p:cNvSpPr/>
          <p:nvPr/>
        </p:nvSpPr>
        <p:spPr>
          <a:xfrm>
            <a:off x="457200" y="3794760"/>
            <a:ext cx="4023360" cy="329184"/>
          </a:xfrm>
          <a:prstGeom prst="roundRect">
            <a:avLst>
              <a:gd name="adj" fmla="val 16667"/>
            </a:avLst>
          </a:prstGeom>
          <a:solidFill>
            <a:srgbClr val="F0FDFA"/>
          </a:solidFill>
          <a:ln w="12700">
            <a:solidFill>
              <a:srgbClr val="0E7490"/>
            </a:solidFill>
            <a:prstDash val="solid"/>
          </a:ln>
        </p:spPr>
      </p:sp>
      <p:sp>
        <p:nvSpPr>
          <p:cNvPr id="22" name="Text 20"/>
          <p:cNvSpPr/>
          <p:nvPr/>
        </p:nvSpPr>
        <p:spPr>
          <a:xfrm>
            <a:off x="594360" y="3794760"/>
            <a:ext cx="1554480" cy="329184"/>
          </a:xfrm>
          <a:prstGeom prst="rect">
            <a:avLst/>
          </a:prstGeom>
          <a:noFill/>
          <a:ln/>
        </p:spPr>
        <p:txBody>
          <a:bodyPr wrap="square" rtlCol="0" anchor="ctr"/>
          <a:lstStyle/>
          <a:p>
            <a:pPr marL="0" indent="0">
              <a:buNone/>
            </a:pPr>
            <a:r>
              <a:rPr lang="en-US" sz="1100" b="1" dirty="0">
                <a:solidFill>
                  <a:srgbClr val="155E75"/>
                </a:solidFill>
                <a:latin typeface="Calibri" pitchFamily="34" charset="0"/>
                <a:ea typeface="Calibri" pitchFamily="34" charset="-122"/>
                <a:cs typeface="Calibri" pitchFamily="34" charset="-120"/>
              </a:rPr>
              <a:t>gdal mdim mosaic</a:t>
            </a:r>
            <a:endParaRPr lang="en-US" sz="1100" dirty="0"/>
          </a:p>
        </p:txBody>
      </p:sp>
      <p:sp>
        <p:nvSpPr>
          <p:cNvPr id="23" name="Text 21"/>
          <p:cNvSpPr/>
          <p:nvPr/>
        </p:nvSpPr>
        <p:spPr>
          <a:xfrm>
            <a:off x="2148840" y="3794760"/>
            <a:ext cx="2194560" cy="329184"/>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VRT over all files</a:t>
            </a:r>
            <a:endParaRPr lang="en-US" sz="1100" dirty="0"/>
          </a:p>
        </p:txBody>
      </p:sp>
      <p:sp>
        <p:nvSpPr>
          <p:cNvPr id="24" name="Shape 22"/>
          <p:cNvSpPr/>
          <p:nvPr/>
        </p:nvSpPr>
        <p:spPr>
          <a:xfrm>
            <a:off x="457200" y="4178808"/>
            <a:ext cx="4023360" cy="329184"/>
          </a:xfrm>
          <a:prstGeom prst="roundRect">
            <a:avLst>
              <a:gd name="adj" fmla="val 16667"/>
            </a:avLst>
          </a:prstGeom>
          <a:solidFill>
            <a:srgbClr val="F0FDFA"/>
          </a:solidFill>
          <a:ln w="12700">
            <a:solidFill>
              <a:srgbClr val="0E7490"/>
            </a:solidFill>
            <a:prstDash val="solid"/>
          </a:ln>
        </p:spPr>
      </p:sp>
      <p:sp>
        <p:nvSpPr>
          <p:cNvPr id="25" name="Text 23"/>
          <p:cNvSpPr/>
          <p:nvPr/>
        </p:nvSpPr>
        <p:spPr>
          <a:xfrm>
            <a:off x="594360" y="4178808"/>
            <a:ext cx="1554480" cy="329184"/>
          </a:xfrm>
          <a:prstGeom prst="rect">
            <a:avLst/>
          </a:prstGeom>
          <a:noFill/>
          <a:ln/>
        </p:spPr>
        <p:txBody>
          <a:bodyPr wrap="square" rtlCol="0" anchor="ctr"/>
          <a:lstStyle/>
          <a:p>
            <a:pPr marL="0" indent="0">
              <a:buNone/>
            </a:pPr>
            <a:r>
              <a:rPr lang="en-US" sz="1100" b="1" dirty="0">
                <a:solidFill>
                  <a:srgbClr val="155E75"/>
                </a:solidFill>
                <a:latin typeface="Calibri" pitchFamily="34" charset="0"/>
                <a:ea typeface="Calibri" pitchFamily="34" charset="-122"/>
                <a:cs typeface="Calibri" pitchFamily="34" charset="-120"/>
              </a:rPr>
              <a:t>rhdf5 chunk iter</a:t>
            </a:r>
            <a:endParaRPr lang="en-US" sz="1100" dirty="0"/>
          </a:p>
        </p:txBody>
      </p:sp>
      <p:sp>
        <p:nvSpPr>
          <p:cNvPr id="26" name="Text 24"/>
          <p:cNvSpPr/>
          <p:nvPr/>
        </p:nvSpPr>
        <p:spPr>
          <a:xfrm>
            <a:off x="2148840" y="4178808"/>
            <a:ext cx="2194560" cy="329184"/>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byte offset + size per chunk</a:t>
            </a:r>
            <a:endParaRPr lang="en-US" sz="1100" dirty="0"/>
          </a:p>
        </p:txBody>
      </p:sp>
      <p:sp>
        <p:nvSpPr>
          <p:cNvPr id="27" name="Shape 25"/>
          <p:cNvSpPr/>
          <p:nvPr/>
        </p:nvSpPr>
        <p:spPr>
          <a:xfrm>
            <a:off x="457200" y="4562856"/>
            <a:ext cx="4023360" cy="329184"/>
          </a:xfrm>
          <a:prstGeom prst="roundRect">
            <a:avLst>
              <a:gd name="adj" fmla="val 16667"/>
            </a:avLst>
          </a:prstGeom>
          <a:solidFill>
            <a:srgbClr val="F0FDFA"/>
          </a:solidFill>
          <a:ln w="12700">
            <a:solidFill>
              <a:srgbClr val="0E7490"/>
            </a:solidFill>
            <a:prstDash val="solid"/>
          </a:ln>
        </p:spPr>
      </p:sp>
      <p:sp>
        <p:nvSpPr>
          <p:cNvPr id="28" name="Text 26"/>
          <p:cNvSpPr/>
          <p:nvPr/>
        </p:nvSpPr>
        <p:spPr>
          <a:xfrm>
            <a:off x="594360" y="4562856"/>
            <a:ext cx="1554480" cy="329184"/>
          </a:xfrm>
          <a:prstGeom prst="rect">
            <a:avLst/>
          </a:prstGeom>
          <a:noFill/>
          <a:ln/>
        </p:spPr>
        <p:txBody>
          <a:bodyPr wrap="square" rtlCol="0" anchor="ctr"/>
          <a:lstStyle/>
          <a:p>
            <a:pPr marL="0" indent="0">
              <a:buNone/>
            </a:pPr>
            <a:r>
              <a:rPr lang="en-US" sz="1100" b="1" dirty="0">
                <a:solidFill>
                  <a:srgbClr val="155E75"/>
                </a:solidFill>
                <a:latin typeface="Calibri" pitchFamily="34" charset="0"/>
                <a:ea typeface="Calibri" pitchFamily="34" charset="-122"/>
                <a:cs typeface="Calibri" pitchFamily="34" charset="-120"/>
              </a:rPr>
              <a:t>Parquet refs</a:t>
            </a:r>
            <a:endParaRPr lang="en-US" sz="1100" dirty="0"/>
          </a:p>
        </p:txBody>
      </p:sp>
      <p:sp>
        <p:nvSpPr>
          <p:cNvPr id="29" name="Text 27"/>
          <p:cNvSpPr/>
          <p:nvPr/>
        </p:nvSpPr>
        <p:spPr>
          <a:xfrm>
            <a:off x="2148840" y="4562856"/>
            <a:ext cx="2194560" cy="329184"/>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a:t>
            </a:r>
            <a:r>
              <a:rPr lang="en-US" sz="1100" dirty="0" err="1">
                <a:solidFill>
                  <a:srgbClr val="1E293B"/>
                </a:solidFill>
                <a:latin typeface="Calibri" pitchFamily="34" charset="0"/>
                <a:ea typeface="Calibri" pitchFamily="34" charset="-122"/>
                <a:cs typeface="Calibri" pitchFamily="34" charset="-120"/>
              </a:rPr>
              <a:t>VirtualiZarr</a:t>
            </a:r>
            <a:r>
              <a:rPr lang="en-US" sz="1100" dirty="0">
                <a:solidFill>
                  <a:srgbClr val="1E293B"/>
                </a:solidFill>
                <a:latin typeface="Calibri" pitchFamily="34" charset="0"/>
                <a:ea typeface="Calibri" pitchFamily="34" charset="-122"/>
                <a:cs typeface="Calibri" pitchFamily="34" charset="-120"/>
              </a:rPr>
              <a:t>/</a:t>
            </a:r>
            <a:r>
              <a:rPr lang="en-US" sz="1100" dirty="0" err="1">
                <a:solidFill>
                  <a:srgbClr val="1E293B"/>
                </a:solidFill>
                <a:latin typeface="Calibri" pitchFamily="34" charset="0"/>
                <a:ea typeface="Calibri" pitchFamily="34" charset="-122"/>
                <a:cs typeface="Calibri" pitchFamily="34" charset="-120"/>
              </a:rPr>
              <a:t>Icechunk</a:t>
            </a:r>
            <a:r>
              <a:rPr lang="en-US" sz="1100" dirty="0">
                <a:solidFill>
                  <a:srgbClr val="1E293B"/>
                </a:solidFill>
                <a:latin typeface="Calibri" pitchFamily="34" charset="0"/>
                <a:ea typeface="Calibri" pitchFamily="34" charset="-122"/>
                <a:cs typeface="Calibri" pitchFamily="34" charset="-120"/>
              </a:rPr>
              <a:t>-compatible store</a:t>
            </a:r>
            <a:endParaRPr lang="en-US" sz="1100" dirty="0"/>
          </a:p>
        </p:txBody>
      </p:sp>
      <p:sp>
        <p:nvSpPr>
          <p:cNvPr id="30" name="Shape 28"/>
          <p:cNvSpPr/>
          <p:nvPr/>
        </p:nvSpPr>
        <p:spPr>
          <a:xfrm>
            <a:off x="4846320" y="2057400"/>
            <a:ext cx="3977640" cy="2834640"/>
          </a:xfrm>
          <a:prstGeom prst="roundRect">
            <a:avLst>
              <a:gd name="adj" fmla="val 3871"/>
            </a:avLst>
          </a:prstGeom>
          <a:solidFill>
            <a:srgbClr val="F8FAFC"/>
          </a:solidFill>
          <a:ln w="19050">
            <a:solidFill>
              <a:srgbClr val="CBD5E1"/>
            </a:solidFill>
            <a:prstDash val="solid"/>
          </a:ln>
        </p:spPr>
      </p:sp>
      <p:sp>
        <p:nvSpPr>
          <p:cNvPr id="31" name="Text 29"/>
          <p:cNvSpPr/>
          <p:nvPr/>
        </p:nvSpPr>
        <p:spPr>
          <a:xfrm>
            <a:off x="4846320" y="2057400"/>
            <a:ext cx="3977640" cy="384048"/>
          </a:xfrm>
          <a:prstGeom prst="rect">
            <a:avLst/>
          </a:prstGeom>
          <a:noFill/>
          <a:ln/>
        </p:spPr>
        <p:txBody>
          <a:bodyPr wrap="square" rtlCol="0" anchor="ctr"/>
          <a:lstStyle/>
          <a:p>
            <a:pPr marL="0" indent="0" algn="ctr">
              <a:buNone/>
            </a:pPr>
            <a:r>
              <a:rPr lang="en-US" sz="1300" b="1" i="1" dirty="0">
                <a:solidFill>
                  <a:srgbClr val="94A3B8"/>
                </a:solidFill>
                <a:latin typeface="Calibri" pitchFamily="34" charset="0"/>
                <a:ea typeface="Calibri" pitchFamily="34" charset="-122"/>
                <a:cs typeface="Calibri" pitchFamily="34" charset="-120"/>
              </a:rPr>
              <a:t>…looks a lot like</a:t>
            </a:r>
            <a:endParaRPr lang="en-US" sz="1300" dirty="0"/>
          </a:p>
        </p:txBody>
      </p:sp>
      <p:sp>
        <p:nvSpPr>
          <p:cNvPr id="32" name="Text 30"/>
          <p:cNvSpPr/>
          <p:nvPr/>
        </p:nvSpPr>
        <p:spPr>
          <a:xfrm>
            <a:off x="4983480" y="2606040"/>
            <a:ext cx="3657600" cy="3200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xarray → logical array</a:t>
            </a:r>
            <a:endParaRPr lang="en-US" sz="1200" dirty="0"/>
          </a:p>
        </p:txBody>
      </p:sp>
      <p:sp>
        <p:nvSpPr>
          <p:cNvPr id="33" name="Text 31"/>
          <p:cNvSpPr/>
          <p:nvPr/>
        </p:nvSpPr>
        <p:spPr>
          <a:xfrm>
            <a:off x="4983480" y="2953512"/>
            <a:ext cx="3657600" cy="3200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VirtualiZarr / kerchunk → refs</a:t>
            </a:r>
            <a:endParaRPr lang="en-US" sz="1200" dirty="0"/>
          </a:p>
        </p:txBody>
      </p:sp>
      <p:sp>
        <p:nvSpPr>
          <p:cNvPr id="34" name="Text 32"/>
          <p:cNvSpPr/>
          <p:nvPr/>
        </p:nvSpPr>
        <p:spPr>
          <a:xfrm>
            <a:off x="4983480" y="3300984"/>
            <a:ext cx="3657600" cy="3200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xarray + Icechunk → user access</a:t>
            </a:r>
            <a:endParaRPr lang="en-US" sz="1200" dirty="0"/>
          </a:p>
        </p:txBody>
      </p:sp>
      <p:sp>
        <p:nvSpPr>
          <p:cNvPr id="35" name="Text 33"/>
          <p:cNvSpPr/>
          <p:nvPr/>
        </p:nvSpPr>
        <p:spPr>
          <a:xfrm>
            <a:off x="4983480" y="3794760"/>
            <a:ext cx="3566160" cy="914400"/>
          </a:xfrm>
          <a:prstGeom prst="rect">
            <a:avLst/>
          </a:prstGeom>
          <a:noFill/>
          <a:ln/>
        </p:spPr>
        <p:txBody>
          <a:bodyPr wrap="square" rtlCol="0" anchor="t"/>
          <a:lstStyle/>
          <a:p>
            <a:pPr marL="0" indent="0">
              <a:buNone/>
            </a:pPr>
            <a:r>
              <a:rPr lang="en-US" sz="1200" b="1" dirty="0">
                <a:solidFill>
                  <a:srgbClr val="0E7490"/>
                </a:solidFill>
                <a:latin typeface="Calibri" pitchFamily="34" charset="0"/>
                <a:ea typeface="Calibri" pitchFamily="34" charset="-122"/>
                <a:cs typeface="Calibri" pitchFamily="34" charset="-120"/>
              </a:rPr>
              <a:t>Same outcome:</a:t>
            </a:r>
            <a:endParaRPr lang="en-US" sz="1200" dirty="0"/>
          </a:p>
          <a:p>
            <a:pPr marL="0" indent="0">
              <a:buNone/>
            </a:pPr>
            <a:r>
              <a:rPr lang="en-US" sz="1200" b="1" dirty="0">
                <a:solidFill>
                  <a:srgbClr val="0E7490"/>
                </a:solidFill>
                <a:latin typeface="Calibri" pitchFamily="34" charset="0"/>
                <a:ea typeface="Calibri" pitchFamily="34" charset="-122"/>
                <a:cs typeface="Calibri" pitchFamily="34" charset="-120"/>
              </a:rPr>
              <a:t>Virtual </a:t>
            </a:r>
            <a:r>
              <a:rPr lang="en-US" sz="1200" b="1" dirty="0" err="1">
                <a:solidFill>
                  <a:srgbClr val="0E7490"/>
                </a:solidFill>
                <a:latin typeface="Calibri" pitchFamily="34" charset="0"/>
                <a:ea typeface="Calibri" pitchFamily="34" charset="-122"/>
                <a:cs typeface="Calibri" pitchFamily="34" charset="-120"/>
              </a:rPr>
              <a:t>Zarr</a:t>
            </a:r>
            <a:r>
              <a:rPr lang="en-US" sz="1200" b="1" dirty="0">
                <a:solidFill>
                  <a:srgbClr val="0E7490"/>
                </a:solidFill>
                <a:latin typeface="Calibri" pitchFamily="34" charset="0"/>
                <a:ea typeface="Calibri" pitchFamily="34" charset="-122"/>
                <a:cs typeface="Calibri" pitchFamily="34" charset="-120"/>
              </a:rPr>
              <a:t> stores readable by Python, R, and GDAL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3400" b="1" dirty="0">
                <a:solidFill>
                  <a:srgbClr val="F8FAFC"/>
                </a:solidFill>
                <a:latin typeface="Cambria" pitchFamily="34" charset="0"/>
                <a:ea typeface="Cambria" pitchFamily="34" charset="-122"/>
                <a:cs typeface="Cambria" pitchFamily="34" charset="-120"/>
              </a:rPr>
              <a:t>Multi-language support</a:t>
            </a:r>
            <a:endParaRPr lang="en-US" sz="3400" dirty="0"/>
          </a:p>
        </p:txBody>
      </p:sp>
      <p:sp>
        <p:nvSpPr>
          <p:cNvPr id="3" name="Shape 1"/>
          <p:cNvSpPr/>
          <p:nvPr/>
        </p:nvSpPr>
        <p:spPr>
          <a:xfrm>
            <a:off x="320040" y="914400"/>
            <a:ext cx="3840480" cy="3840480"/>
          </a:xfrm>
          <a:prstGeom prst="roundRect">
            <a:avLst>
              <a:gd name="adj" fmla="val 2857"/>
            </a:avLst>
          </a:prstGeom>
          <a:solidFill>
            <a:srgbClr val="132038"/>
          </a:solidFill>
          <a:ln/>
          <a:effectLst>
            <a:outerShdw blurRad="101600" dist="38100" dir="2700000" algn="bl" rotWithShape="0">
              <a:srgbClr val="000000">
                <a:alpha val="20000"/>
              </a:srgbClr>
            </a:outerShdw>
          </a:effectLst>
        </p:spPr>
      </p:sp>
      <p:sp>
        <p:nvSpPr>
          <p:cNvPr id="4" name="Text 2"/>
          <p:cNvSpPr/>
          <p:nvPr/>
        </p:nvSpPr>
        <p:spPr>
          <a:xfrm>
            <a:off x="320040" y="914400"/>
            <a:ext cx="3840480" cy="384048"/>
          </a:xfrm>
          <a:prstGeom prst="rect">
            <a:avLst/>
          </a:prstGeom>
          <a:noFill/>
          <a:ln/>
        </p:spPr>
        <p:txBody>
          <a:bodyPr wrap="square"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Python-centric</a:t>
            </a:r>
            <a:endParaRPr lang="en-US" sz="1400" dirty="0"/>
          </a:p>
        </p:txBody>
      </p:sp>
      <p:sp>
        <p:nvSpPr>
          <p:cNvPr id="5" name="Text 3"/>
          <p:cNvSpPr/>
          <p:nvPr/>
        </p:nvSpPr>
        <p:spPr>
          <a:xfrm>
            <a:off x="457200" y="1371600"/>
            <a:ext cx="3566160" cy="3108960"/>
          </a:xfrm>
          <a:prstGeom prst="rect">
            <a:avLst/>
          </a:prstGeom>
          <a:noFill/>
          <a:ln/>
        </p:spPr>
        <p:txBody>
          <a:bodyPr wrap="square" rtlCol="0" anchor="t"/>
          <a:lstStyle/>
          <a:p>
            <a:pPr marL="0" indent="0">
              <a:buNone/>
            </a:pPr>
            <a:r>
              <a:rPr lang="en-US" sz="1250" b="1" dirty="0">
                <a:solidFill>
                  <a:srgbClr val="22D3EE"/>
                </a:solidFill>
                <a:latin typeface="Calibri" pitchFamily="34" charset="0"/>
                <a:ea typeface="Calibri" pitchFamily="34" charset="-122"/>
                <a:cs typeface="Calibri" pitchFamily="34" charset="-120"/>
              </a:rPr>
              <a:t>Kerchunk / </a:t>
            </a:r>
            <a:r>
              <a:rPr lang="en-US" sz="1250" b="1" dirty="0" err="1">
                <a:solidFill>
                  <a:srgbClr val="22D3EE"/>
                </a:solidFill>
                <a:latin typeface="Calibri" pitchFamily="34" charset="0"/>
                <a:ea typeface="Calibri" pitchFamily="34" charset="-122"/>
                <a:cs typeface="Calibri" pitchFamily="34" charset="-120"/>
              </a:rPr>
              <a:t>DMRpp</a:t>
            </a:r>
            <a:r>
              <a:rPr lang="en-US" sz="1250" dirty="0">
                <a:solidFill>
                  <a:srgbClr val="E2E8F0"/>
                </a:solidFill>
                <a:latin typeface="Calibri" pitchFamily="34" charset="0"/>
                <a:ea typeface="Calibri" pitchFamily="34" charset="-122"/>
                <a:cs typeface="Calibri" pitchFamily="34" charset="-120"/>
              </a:rPr>
              <a:t> — original reference builders</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22D3EE"/>
                </a:solidFill>
                <a:latin typeface="Calibri" pitchFamily="34" charset="0"/>
                <a:ea typeface="Calibri" pitchFamily="34" charset="-122"/>
                <a:cs typeface="Calibri" pitchFamily="34" charset="-120"/>
              </a:rPr>
              <a:t>VirtualiZarr</a:t>
            </a:r>
            <a:r>
              <a:rPr lang="en-US" sz="1250" dirty="0">
                <a:solidFill>
                  <a:srgbClr val="E2E8F0"/>
                </a:solidFill>
                <a:latin typeface="Calibri" pitchFamily="34" charset="0"/>
                <a:ea typeface="Calibri" pitchFamily="34" charset="-122"/>
                <a:cs typeface="Calibri" pitchFamily="34" charset="-120"/>
              </a:rPr>
              <a:t> — modern, Xarray-native virtualization</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F43F5E"/>
                </a:solidFill>
                <a:latin typeface="Calibri" pitchFamily="34" charset="0"/>
                <a:ea typeface="Calibri" pitchFamily="34" charset="-122"/>
                <a:cs typeface="Calibri" pitchFamily="34" charset="-120"/>
              </a:rPr>
              <a:t>Icechunk</a:t>
            </a:r>
            <a:r>
              <a:rPr lang="en-US" sz="1250" dirty="0">
                <a:solidFill>
                  <a:srgbClr val="E2E8F0"/>
                </a:solidFill>
                <a:latin typeface="Calibri" pitchFamily="34" charset="0"/>
                <a:ea typeface="Calibri" pitchFamily="34" charset="-122"/>
                <a:cs typeface="Calibri" pitchFamily="34" charset="-120"/>
              </a:rPr>
              <a:t> — transaction-robust, version-able Zarr</a:t>
            </a:r>
            <a:endParaRPr lang="en-US" sz="1250" dirty="0"/>
          </a:p>
          <a:p>
            <a:pPr marL="0" indent="0">
              <a:buNone/>
            </a:pPr>
            <a:r>
              <a:rPr lang="en-US" sz="1250" dirty="0">
                <a:solidFill>
                  <a:srgbClr val="E2E8F0"/>
                </a:solidFill>
                <a:latin typeface="Calibri" pitchFamily="34" charset="0"/>
                <a:ea typeface="Calibri" pitchFamily="34" charset="-122"/>
                <a:cs typeface="Calibri" pitchFamily="34" charset="-120"/>
              </a:rPr>
              <a:t>  powered by Rust</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endParaRPr lang="en-US" sz="1250" i="1" dirty="0">
              <a:solidFill>
                <a:srgbClr val="94A3B8"/>
              </a:solidFill>
              <a:latin typeface="Calibri" pitchFamily="34" charset="0"/>
              <a:ea typeface="Calibri" pitchFamily="34" charset="-122"/>
              <a:cs typeface="Calibri" pitchFamily="34" charset="-120"/>
            </a:endParaRPr>
          </a:p>
          <a:p>
            <a:pPr marL="0" indent="0">
              <a:buNone/>
            </a:pPr>
            <a:r>
              <a:rPr lang="en-US" sz="1250" i="1" dirty="0">
                <a:solidFill>
                  <a:srgbClr val="94A3B8"/>
                </a:solidFill>
                <a:latin typeface="Calibri" pitchFamily="34" charset="0"/>
                <a:ea typeface="Calibri" pitchFamily="34" charset="-122"/>
                <a:cs typeface="Calibri" pitchFamily="34" charset="-120"/>
              </a:rPr>
              <a:t>One pathway: run Python, use xarray</a:t>
            </a:r>
            <a:endParaRPr lang="en-US" sz="1250" dirty="0"/>
          </a:p>
        </p:txBody>
      </p:sp>
      <p:sp>
        <p:nvSpPr>
          <p:cNvPr id="6" name="Shape 4"/>
          <p:cNvSpPr/>
          <p:nvPr/>
        </p:nvSpPr>
        <p:spPr>
          <a:xfrm>
            <a:off x="4434840" y="914400"/>
            <a:ext cx="4389120" cy="3840480"/>
          </a:xfrm>
          <a:prstGeom prst="roundRect">
            <a:avLst>
              <a:gd name="adj" fmla="val 2857"/>
            </a:avLst>
          </a:prstGeom>
          <a:solidFill>
            <a:srgbClr val="0C2A1A"/>
          </a:solidFill>
          <a:ln/>
          <a:effectLst>
            <a:outerShdw blurRad="101600" dist="38100" dir="2700000" algn="bl" rotWithShape="0">
              <a:srgbClr val="000000">
                <a:alpha val="20000"/>
              </a:srgbClr>
            </a:outerShdw>
          </a:effectLst>
        </p:spPr>
      </p:sp>
      <p:sp>
        <p:nvSpPr>
          <p:cNvPr id="7" name="Text 5"/>
          <p:cNvSpPr/>
          <p:nvPr/>
        </p:nvSpPr>
        <p:spPr>
          <a:xfrm>
            <a:off x="4434840" y="914400"/>
            <a:ext cx="4389120" cy="384048"/>
          </a:xfrm>
          <a:prstGeom prst="rect">
            <a:avLst/>
          </a:prstGeom>
          <a:noFill/>
          <a:ln/>
        </p:spPr>
        <p:txBody>
          <a:bodyPr wrap="square" rtlCol="0" anchor="ctr"/>
          <a:lstStyle/>
          <a:p>
            <a:pPr marL="0" indent="0" algn="ctr">
              <a:buNone/>
            </a:pPr>
            <a:r>
              <a:rPr lang="en-US" sz="1400" b="1" dirty="0">
                <a:solidFill>
                  <a:srgbClr val="10B981"/>
                </a:solidFill>
                <a:latin typeface="Calibri" pitchFamily="34" charset="0"/>
                <a:ea typeface="Calibri" pitchFamily="34" charset="-122"/>
                <a:cs typeface="Calibri" pitchFamily="34" charset="-120"/>
              </a:rPr>
              <a:t>R and GDAL</a:t>
            </a:r>
            <a:endParaRPr lang="en-US" sz="1400" dirty="0"/>
          </a:p>
        </p:txBody>
      </p:sp>
      <p:sp>
        <p:nvSpPr>
          <p:cNvPr id="8" name="Text 6"/>
          <p:cNvSpPr/>
          <p:nvPr/>
        </p:nvSpPr>
        <p:spPr>
          <a:xfrm>
            <a:off x="4572000" y="1371600"/>
            <a:ext cx="4114800" cy="3108960"/>
          </a:xfrm>
          <a:prstGeom prst="rect">
            <a:avLst/>
          </a:prstGeom>
          <a:noFill/>
          <a:ln/>
        </p:spPr>
        <p:txBody>
          <a:bodyPr wrap="square" rtlCol="0" anchor="t"/>
          <a:lstStyle/>
          <a:p>
            <a:pPr marL="0" indent="0">
              <a:buNone/>
            </a:pPr>
            <a:r>
              <a:rPr lang="en-US" sz="1250" b="1" dirty="0">
                <a:solidFill>
                  <a:srgbClr val="22D3EE"/>
                </a:solidFill>
                <a:latin typeface="Calibri" pitchFamily="34" charset="0"/>
                <a:ea typeface="Calibri" pitchFamily="34" charset="-122"/>
                <a:cs typeface="Calibri" pitchFamily="34" charset="-120"/>
              </a:rPr>
              <a:t>gdal mdim get-refs</a:t>
            </a:r>
            <a:r>
              <a:rPr lang="en-US" sz="1250" dirty="0">
                <a:solidFill>
                  <a:srgbClr val="E2E8F0"/>
                </a:solidFill>
                <a:latin typeface="Calibri" pitchFamily="34" charset="0"/>
                <a:ea typeface="Calibri" pitchFamily="34" charset="-122"/>
                <a:cs typeface="Calibri" pitchFamily="34" charset="-120"/>
              </a:rPr>
              <a:t> — new GDAL CLI subcommand</a:t>
            </a:r>
            <a:endParaRPr lang="en-US" sz="1250" dirty="0"/>
          </a:p>
          <a:p>
            <a:pPr marL="0" indent="0">
              <a:buNone/>
            </a:pPr>
            <a:r>
              <a:rPr lang="en-US" sz="1250" dirty="0">
                <a:solidFill>
                  <a:srgbClr val="E2E8F0"/>
                </a:solidFill>
                <a:latin typeface="Calibri" pitchFamily="34" charset="0"/>
                <a:ea typeface="Calibri" pitchFamily="34" charset="-122"/>
                <a:cs typeface="Calibri" pitchFamily="34" charset="-120"/>
              </a:rPr>
              <a:t>  extracting chunk refs to Parquet/GPKG</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22D3EE"/>
                </a:solidFill>
                <a:latin typeface="Calibri" pitchFamily="34" charset="0"/>
                <a:ea typeface="Calibri" pitchFamily="34" charset="-122"/>
                <a:cs typeface="Calibri" pitchFamily="34" charset="-120"/>
              </a:rPr>
              <a:t>GDAL + Icechunk</a:t>
            </a:r>
            <a:r>
              <a:rPr lang="en-US" sz="1250" dirty="0">
                <a:solidFill>
                  <a:srgbClr val="E2E8F0"/>
                </a:solidFill>
                <a:latin typeface="Calibri" pitchFamily="34" charset="0"/>
                <a:ea typeface="Calibri" pitchFamily="34" charset="-122"/>
                <a:cs typeface="Calibri" pitchFamily="34" charset="-120"/>
              </a:rPr>
              <a:t> — on the radar:</a:t>
            </a:r>
            <a:endParaRPr lang="en-US" sz="1250" dirty="0"/>
          </a:p>
          <a:p>
            <a:pPr marL="0" indent="0">
              <a:buNone/>
            </a:pPr>
            <a:r>
              <a:rPr lang="en-US" sz="1250" dirty="0">
                <a:solidFill>
                  <a:srgbClr val="E2E8F0"/>
                </a:solidFill>
                <a:latin typeface="Calibri" pitchFamily="34" charset="0"/>
                <a:ea typeface="Calibri" pitchFamily="34" charset="-122"/>
                <a:cs typeface="Calibri" pitchFamily="34" charset="-120"/>
              </a:rPr>
              <a:t>  /vsiicechunk/ VSI handler</a:t>
            </a:r>
          </a:p>
          <a:p>
            <a:r>
              <a:rPr lang="en-US" sz="1250" b="1" dirty="0" err="1">
                <a:solidFill>
                  <a:srgbClr val="22D3EE"/>
                </a:solidFill>
                <a:latin typeface="Calibri" pitchFamily="34" charset="0"/>
                <a:ea typeface="Calibri" pitchFamily="34" charset="-122"/>
                <a:cs typeface="Calibri" pitchFamily="34" charset="-120"/>
              </a:rPr>
              <a:t>gdalraster</a:t>
            </a:r>
            <a:r>
              <a:rPr lang="en-US" sz="1250" dirty="0">
                <a:solidFill>
                  <a:srgbClr val="E2E8F0"/>
                </a:solidFill>
                <a:latin typeface="Calibri" pitchFamily="34" charset="0"/>
                <a:ea typeface="Calibri" pitchFamily="34" charset="-122"/>
                <a:cs typeface="Calibri" pitchFamily="34" charset="-120"/>
              </a:rPr>
              <a:t> — R GDAL package + </a:t>
            </a:r>
            <a:r>
              <a:rPr lang="en-US" sz="1250" dirty="0" err="1">
                <a:solidFill>
                  <a:srgbClr val="E2E8F0"/>
                </a:solidFill>
                <a:latin typeface="Calibri" pitchFamily="34" charset="0"/>
                <a:ea typeface="Calibri" pitchFamily="34" charset="-122"/>
                <a:cs typeface="Calibri" pitchFamily="34" charset="-120"/>
              </a:rPr>
              <a:t>multidim</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22D3EE"/>
                </a:solidFill>
                <a:latin typeface="Calibri" pitchFamily="34" charset="0"/>
                <a:ea typeface="Calibri" pitchFamily="34" charset="-122"/>
                <a:cs typeface="Calibri" pitchFamily="34" charset="-120"/>
              </a:rPr>
              <a:t>pizzarr</a:t>
            </a:r>
            <a:r>
              <a:rPr lang="en-US" sz="1250" dirty="0">
                <a:solidFill>
                  <a:srgbClr val="E2E8F0"/>
                </a:solidFill>
                <a:latin typeface="Calibri" pitchFamily="34" charset="0"/>
                <a:ea typeface="Calibri" pitchFamily="34" charset="-122"/>
                <a:cs typeface="Calibri" pitchFamily="34" charset="-120"/>
              </a:rPr>
              <a:t> — R </a:t>
            </a:r>
            <a:r>
              <a:rPr lang="en-US" sz="1250" dirty="0" err="1">
                <a:solidFill>
                  <a:srgbClr val="E2E8F0"/>
                </a:solidFill>
                <a:latin typeface="Calibri" pitchFamily="34" charset="0"/>
                <a:ea typeface="Calibri" pitchFamily="34" charset="-122"/>
                <a:cs typeface="Calibri" pitchFamily="34" charset="-120"/>
              </a:rPr>
              <a:t>Zarr</a:t>
            </a:r>
            <a:r>
              <a:rPr lang="en-US" sz="1250" dirty="0">
                <a:solidFill>
                  <a:srgbClr val="E2E8F0"/>
                </a:solidFill>
                <a:latin typeface="Calibri" pitchFamily="34" charset="0"/>
                <a:ea typeface="Calibri" pitchFamily="34" charset="-122"/>
                <a:cs typeface="Calibri" pitchFamily="34" charset="-120"/>
              </a:rPr>
              <a:t> package (</a:t>
            </a:r>
            <a:r>
              <a:rPr lang="en-US" sz="1250" dirty="0" err="1">
                <a:solidFill>
                  <a:srgbClr val="E2E8F0"/>
                </a:solidFill>
                <a:latin typeface="Calibri" pitchFamily="34" charset="0"/>
                <a:ea typeface="Calibri" pitchFamily="34" charset="-122"/>
                <a:cs typeface="Calibri" pitchFamily="34" charset="-120"/>
              </a:rPr>
              <a:t>Icechunk</a:t>
            </a:r>
            <a:r>
              <a:rPr lang="en-US" sz="1250" dirty="0">
                <a:solidFill>
                  <a:srgbClr val="E2E8F0"/>
                </a:solidFill>
                <a:latin typeface="Calibri" pitchFamily="34" charset="0"/>
                <a:ea typeface="Calibri" pitchFamily="34" charset="-122"/>
                <a:cs typeface="Calibri" pitchFamily="34" charset="-120"/>
              </a:rPr>
              <a:t>-enabled)</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22D3EE"/>
                </a:solidFill>
                <a:latin typeface="Calibri" pitchFamily="34" charset="0"/>
                <a:ea typeface="Calibri" pitchFamily="34" charset="-122"/>
                <a:cs typeface="Calibri" pitchFamily="34" charset="-120"/>
              </a:rPr>
              <a:t>zaro</a:t>
            </a:r>
            <a:r>
              <a:rPr lang="en-US" sz="1250" dirty="0">
                <a:solidFill>
                  <a:srgbClr val="E2E8F0"/>
                </a:solidFill>
                <a:latin typeface="Calibri" pitchFamily="34" charset="0"/>
                <a:ea typeface="Calibri" pitchFamily="34" charset="-122"/>
                <a:cs typeface="Calibri" pitchFamily="34" charset="-120"/>
              </a:rPr>
              <a:t> — pure-R Zarr reader via Arrow FS</a:t>
            </a:r>
          </a:p>
          <a:p>
            <a:endParaRPr lang="en-US" sz="1250" i="1" dirty="0">
              <a:solidFill>
                <a:srgbClr val="94A3B8"/>
              </a:solidFill>
              <a:latin typeface="Calibri" pitchFamily="34" charset="0"/>
              <a:cs typeface="Calibri" pitchFamily="34" charset="-120"/>
            </a:endParaRPr>
          </a:p>
          <a:p>
            <a:r>
              <a:rPr lang="en-US" sz="1250" i="1" dirty="0">
                <a:solidFill>
                  <a:srgbClr val="94A3B8"/>
                </a:solidFill>
                <a:latin typeface="Calibri" pitchFamily="34" charset="0"/>
                <a:cs typeface="Calibri" pitchFamily="34" charset="-120"/>
              </a:rPr>
              <a:t>Not just Python</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3400" b="1" dirty="0">
                <a:solidFill>
                  <a:srgbClr val="F8FAFC"/>
                </a:solidFill>
                <a:latin typeface="Cambria" pitchFamily="34" charset="0"/>
                <a:ea typeface="Cambria" pitchFamily="34" charset="-122"/>
                <a:cs typeface="Cambria" pitchFamily="34" charset="-120"/>
              </a:rPr>
              <a:t>What this enables</a:t>
            </a:r>
            <a:endParaRPr lang="en-US" sz="3400" dirty="0"/>
          </a:p>
        </p:txBody>
      </p:sp>
      <p:sp>
        <p:nvSpPr>
          <p:cNvPr id="3" name="Shape 1"/>
          <p:cNvSpPr/>
          <p:nvPr/>
        </p:nvSpPr>
        <p:spPr>
          <a:xfrm>
            <a:off x="320040" y="960120"/>
            <a:ext cx="4023360" cy="3749040"/>
          </a:xfrm>
          <a:prstGeom prst="roundRect">
            <a:avLst>
              <a:gd name="adj" fmla="val 2927"/>
            </a:avLst>
          </a:prstGeom>
          <a:solidFill>
            <a:srgbClr val="0E4D6E"/>
          </a:solidFill>
          <a:ln/>
          <a:effectLst>
            <a:outerShdw blurRad="101600" dist="38100" dir="2700000" algn="bl" rotWithShape="0">
              <a:srgbClr val="000000">
                <a:alpha val="20000"/>
              </a:srgbClr>
            </a:outerShdw>
          </a:effectLst>
        </p:spPr>
      </p:sp>
      <p:sp>
        <p:nvSpPr>
          <p:cNvPr id="4" name="Text 2"/>
          <p:cNvSpPr/>
          <p:nvPr/>
        </p:nvSpPr>
        <p:spPr>
          <a:xfrm>
            <a:off x="484632" y="1097280"/>
            <a:ext cx="3657600" cy="384048"/>
          </a:xfrm>
          <a:prstGeom prst="rect">
            <a:avLst/>
          </a:prstGeom>
          <a:noFill/>
          <a:ln/>
        </p:spPr>
        <p:txBody>
          <a:bodyPr wrap="square"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  No data movement</a:t>
            </a:r>
            <a:endParaRPr lang="en-US" sz="1500" dirty="0"/>
          </a:p>
        </p:txBody>
      </p:sp>
      <p:sp>
        <p:nvSpPr>
          <p:cNvPr id="5" name="Text 3"/>
          <p:cNvSpPr/>
          <p:nvPr/>
        </p:nvSpPr>
        <p:spPr>
          <a:xfrm>
            <a:off x="484632" y="1481328"/>
            <a:ext cx="3657600" cy="320040"/>
          </a:xfrm>
          <a:prstGeom prst="rect">
            <a:avLst/>
          </a:prstGeom>
          <a:noFill/>
          <a:ln/>
        </p:spPr>
        <p:txBody>
          <a:bodyPr wrap="square" rtlCol="0" anchor="ctr"/>
          <a:lstStyle/>
          <a:p>
            <a:pPr marL="0" indent="0">
              <a:buNone/>
            </a:pPr>
            <a:r>
              <a:rPr lang="en-US" sz="1200" i="1" dirty="0">
                <a:solidFill>
                  <a:srgbClr val="E2E8F0"/>
                </a:solidFill>
                <a:latin typeface="Calibri" pitchFamily="34" charset="0"/>
                <a:ea typeface="Calibri" pitchFamily="34" charset="-122"/>
                <a:cs typeface="Calibri" pitchFamily="34" charset="-120"/>
              </a:rPr>
              <a:t>Data in original files, access by reference within </a:t>
            </a:r>
            <a:r>
              <a:rPr lang="en-US" sz="1200" i="1" dirty="0" err="1">
                <a:solidFill>
                  <a:srgbClr val="E2E8F0"/>
                </a:solidFill>
                <a:latin typeface="Calibri" pitchFamily="34" charset="0"/>
                <a:ea typeface="Calibri" pitchFamily="34" charset="-122"/>
                <a:cs typeface="Calibri" pitchFamily="34" charset="-120"/>
              </a:rPr>
              <a:t>urls</a:t>
            </a:r>
            <a:endParaRPr lang="en-US" sz="1200" dirty="0"/>
          </a:p>
        </p:txBody>
      </p:sp>
      <p:sp>
        <p:nvSpPr>
          <p:cNvPr id="6" name="Shape 4"/>
          <p:cNvSpPr/>
          <p:nvPr/>
        </p:nvSpPr>
        <p:spPr>
          <a:xfrm>
            <a:off x="484632" y="1920240"/>
            <a:ext cx="3566160" cy="566928"/>
          </a:xfrm>
          <a:prstGeom prst="roundRect">
            <a:avLst>
              <a:gd name="adj" fmla="val 12903"/>
            </a:avLst>
          </a:prstGeom>
          <a:solidFill>
            <a:srgbClr val="0A2A40"/>
          </a:solidFill>
          <a:ln w="12700">
            <a:solidFill>
              <a:srgbClr val="1E5A7A"/>
            </a:solidFill>
            <a:prstDash val="solid"/>
          </a:ln>
        </p:spPr>
      </p:sp>
      <p:sp>
        <p:nvSpPr>
          <p:cNvPr id="7" name="Text 5"/>
          <p:cNvSpPr/>
          <p:nvPr/>
        </p:nvSpPr>
        <p:spPr>
          <a:xfrm>
            <a:off x="594360" y="1920240"/>
            <a:ext cx="1234440" cy="566928"/>
          </a:xfrm>
          <a:prstGeom prst="rect">
            <a:avLst/>
          </a:prstGeom>
          <a:noFill/>
          <a:ln/>
        </p:spPr>
        <p:txBody>
          <a:bodyPr wrap="square"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 BRAN2023</a:t>
            </a:r>
            <a:endParaRPr lang="en-US" sz="1200" dirty="0"/>
          </a:p>
        </p:txBody>
      </p:sp>
      <p:sp>
        <p:nvSpPr>
          <p:cNvPr id="8" name="Text 6"/>
          <p:cNvSpPr/>
          <p:nvPr/>
        </p:nvSpPr>
        <p:spPr>
          <a:xfrm>
            <a:off x="1874520" y="1920240"/>
            <a:ext cx="2057400" cy="566928"/>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4D ocean model · 11 vars · ~6.5 TB/var · ~70 TB total</a:t>
            </a:r>
            <a:endParaRPr lang="en-US" sz="1000" dirty="0"/>
          </a:p>
        </p:txBody>
      </p:sp>
      <p:sp>
        <p:nvSpPr>
          <p:cNvPr id="9" name="Shape 7"/>
          <p:cNvSpPr/>
          <p:nvPr/>
        </p:nvSpPr>
        <p:spPr>
          <a:xfrm>
            <a:off x="484632" y="2587752"/>
            <a:ext cx="3566160" cy="566928"/>
          </a:xfrm>
          <a:prstGeom prst="roundRect">
            <a:avLst>
              <a:gd name="adj" fmla="val 12903"/>
            </a:avLst>
          </a:prstGeom>
          <a:solidFill>
            <a:srgbClr val="0A2A40"/>
          </a:solidFill>
          <a:ln w="12700">
            <a:solidFill>
              <a:srgbClr val="1E5A7A"/>
            </a:solidFill>
            <a:prstDash val="solid"/>
          </a:ln>
        </p:spPr>
      </p:sp>
      <p:sp>
        <p:nvSpPr>
          <p:cNvPr id="10" name="Text 8"/>
          <p:cNvSpPr/>
          <p:nvPr/>
        </p:nvSpPr>
        <p:spPr>
          <a:xfrm>
            <a:off x="594360" y="2587752"/>
            <a:ext cx="1234440" cy="566928"/>
          </a:xfrm>
          <a:prstGeom prst="rect">
            <a:avLst/>
          </a:prstGeom>
          <a:noFill/>
          <a:ln/>
        </p:spPr>
        <p:txBody>
          <a:bodyPr wrap="square"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 GHRSST</a:t>
            </a:r>
            <a:endParaRPr lang="en-US" sz="1200" dirty="0"/>
          </a:p>
        </p:txBody>
      </p:sp>
      <p:sp>
        <p:nvSpPr>
          <p:cNvPr id="11" name="Text 9"/>
          <p:cNvSpPr/>
          <p:nvPr/>
        </p:nvSpPr>
        <p:spPr>
          <a:xfrm>
            <a:off x="1874520" y="2587752"/>
            <a:ext cx="2057400" cy="566928"/>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Sea surface temp · daily L4 · ~2 TB/variable</a:t>
            </a:r>
            <a:endParaRPr lang="en-US" sz="1000" dirty="0"/>
          </a:p>
        </p:txBody>
      </p:sp>
      <p:sp>
        <p:nvSpPr>
          <p:cNvPr id="12" name="Shape 10"/>
          <p:cNvSpPr/>
          <p:nvPr/>
        </p:nvSpPr>
        <p:spPr>
          <a:xfrm>
            <a:off x="484632" y="3255264"/>
            <a:ext cx="3566160" cy="566928"/>
          </a:xfrm>
          <a:prstGeom prst="roundRect">
            <a:avLst>
              <a:gd name="adj" fmla="val 12903"/>
            </a:avLst>
          </a:prstGeom>
          <a:solidFill>
            <a:srgbClr val="0A2A40"/>
          </a:solidFill>
          <a:ln w="12700">
            <a:solidFill>
              <a:srgbClr val="1E5A7A"/>
            </a:solidFill>
            <a:prstDash val="solid"/>
          </a:ln>
        </p:spPr>
      </p:sp>
      <p:sp>
        <p:nvSpPr>
          <p:cNvPr id="13" name="Text 11"/>
          <p:cNvSpPr/>
          <p:nvPr/>
        </p:nvSpPr>
        <p:spPr>
          <a:xfrm>
            <a:off x="594360" y="3255264"/>
            <a:ext cx="1234440" cy="566928"/>
          </a:xfrm>
          <a:prstGeom prst="rect">
            <a:avLst/>
          </a:prstGeom>
          <a:noFill/>
          <a:ln/>
        </p:spPr>
        <p:txBody>
          <a:bodyPr wrap="square"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 SEA ICE</a:t>
            </a:r>
            <a:endParaRPr lang="en-US" sz="1200" dirty="0"/>
          </a:p>
        </p:txBody>
      </p:sp>
      <p:sp>
        <p:nvSpPr>
          <p:cNvPr id="14" name="Text 12"/>
          <p:cNvSpPr/>
          <p:nvPr/>
        </p:nvSpPr>
        <p:spPr>
          <a:xfrm>
            <a:off x="1874520" y="3255264"/>
            <a:ext cx="2057400" cy="566928"/>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NSIDC (25km) + AMSR2 (3.125km) · daily 1978–now · ~20 GB</a:t>
            </a:r>
            <a:endParaRPr lang="en-US" sz="1000" dirty="0"/>
          </a:p>
        </p:txBody>
      </p:sp>
      <p:sp>
        <p:nvSpPr>
          <p:cNvPr id="15" name="Shape 13"/>
          <p:cNvSpPr/>
          <p:nvPr/>
        </p:nvSpPr>
        <p:spPr>
          <a:xfrm>
            <a:off x="484632" y="3922776"/>
            <a:ext cx="3566160" cy="566928"/>
          </a:xfrm>
          <a:prstGeom prst="roundRect">
            <a:avLst>
              <a:gd name="adj" fmla="val 12903"/>
            </a:avLst>
          </a:prstGeom>
          <a:solidFill>
            <a:srgbClr val="0C3320"/>
          </a:solidFill>
          <a:ln w="12700">
            <a:solidFill>
              <a:srgbClr val="10B981"/>
            </a:solidFill>
            <a:prstDash val="solid"/>
          </a:ln>
        </p:spPr>
      </p:sp>
      <p:sp>
        <p:nvSpPr>
          <p:cNvPr id="16" name="Text 14"/>
          <p:cNvSpPr/>
          <p:nvPr/>
        </p:nvSpPr>
        <p:spPr>
          <a:xfrm>
            <a:off x="594360" y="3922776"/>
            <a:ext cx="1234440" cy="566928"/>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Altimetry</a:t>
            </a:r>
            <a:endParaRPr lang="en-US" sz="1200" dirty="0"/>
          </a:p>
        </p:txBody>
      </p:sp>
      <p:sp>
        <p:nvSpPr>
          <p:cNvPr id="17" name="Text 15"/>
          <p:cNvSpPr/>
          <p:nvPr/>
        </p:nvSpPr>
        <p:spPr>
          <a:xfrm>
            <a:off x="1874520" y="3922776"/>
            <a:ext cx="2057400" cy="566928"/>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Already native Zarr · CMEMS</a:t>
            </a:r>
            <a:endParaRPr lang="en-US" sz="1000" dirty="0"/>
          </a:p>
        </p:txBody>
      </p:sp>
      <p:sp>
        <p:nvSpPr>
          <p:cNvPr id="18" name="Shape 16"/>
          <p:cNvSpPr/>
          <p:nvPr/>
        </p:nvSpPr>
        <p:spPr>
          <a:xfrm>
            <a:off x="4663440" y="960120"/>
            <a:ext cx="4160520" cy="1143000"/>
          </a:xfrm>
          <a:prstGeom prst="roundRect">
            <a:avLst>
              <a:gd name="adj" fmla="val 9600"/>
            </a:avLst>
          </a:prstGeom>
          <a:solidFill>
            <a:srgbClr val="065A3A"/>
          </a:solidFill>
          <a:ln/>
          <a:effectLst>
            <a:outerShdw blurRad="101600" dist="38100" dir="2700000" algn="bl" rotWithShape="0">
              <a:srgbClr val="000000">
                <a:alpha val="20000"/>
              </a:srgbClr>
            </a:outerShdw>
          </a:effectLst>
        </p:spPr>
      </p:sp>
      <p:sp>
        <p:nvSpPr>
          <p:cNvPr id="19" name="Text 17"/>
          <p:cNvSpPr/>
          <p:nvPr/>
        </p:nvSpPr>
        <p:spPr>
          <a:xfrm>
            <a:off x="4828032" y="1051560"/>
            <a:ext cx="3749040" cy="347472"/>
          </a:xfrm>
          <a:prstGeom prst="rect">
            <a:avLst/>
          </a:prstGeom>
          <a:noFill/>
          <a:ln/>
        </p:spPr>
        <p:txBody>
          <a:bodyPr wrap="square"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  Partial reads</a:t>
            </a:r>
            <a:endParaRPr lang="en-US" sz="1400" dirty="0"/>
          </a:p>
        </p:txBody>
      </p:sp>
      <p:sp>
        <p:nvSpPr>
          <p:cNvPr id="20" name="Text 18"/>
          <p:cNvSpPr/>
          <p:nvPr/>
        </p:nvSpPr>
        <p:spPr>
          <a:xfrm>
            <a:off x="4828032" y="1399032"/>
            <a:ext cx="3749040" cy="62179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Fetch only the chunks needed from existing files in a single store. </a:t>
            </a:r>
            <a:endParaRPr lang="en-US" sz="1150" dirty="0"/>
          </a:p>
        </p:txBody>
      </p:sp>
      <p:sp>
        <p:nvSpPr>
          <p:cNvPr id="21" name="Shape 19"/>
          <p:cNvSpPr/>
          <p:nvPr/>
        </p:nvSpPr>
        <p:spPr>
          <a:xfrm>
            <a:off x="4663440" y="2221992"/>
            <a:ext cx="4160520" cy="1143000"/>
          </a:xfrm>
          <a:prstGeom prst="roundRect">
            <a:avLst>
              <a:gd name="adj" fmla="val 9600"/>
            </a:avLst>
          </a:prstGeom>
          <a:solidFill>
            <a:srgbClr val="3D1A6E"/>
          </a:solidFill>
          <a:ln/>
          <a:effectLst>
            <a:outerShdw blurRad="101600" dist="38100" dir="2700000" algn="bl" rotWithShape="0">
              <a:srgbClr val="000000">
                <a:alpha val="20000"/>
              </a:srgbClr>
            </a:outerShdw>
          </a:effectLst>
        </p:spPr>
      </p:sp>
      <p:sp>
        <p:nvSpPr>
          <p:cNvPr id="22" name="Text 20"/>
          <p:cNvSpPr/>
          <p:nvPr/>
        </p:nvSpPr>
        <p:spPr>
          <a:xfrm>
            <a:off x="4828032" y="2313432"/>
            <a:ext cx="3749040" cy="347472"/>
          </a:xfrm>
          <a:prstGeom prst="rect">
            <a:avLst/>
          </a:prstGeom>
          <a:noFill/>
          <a:ln/>
        </p:spPr>
        <p:txBody>
          <a:bodyPr wrap="square"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  Interoperable</a:t>
            </a:r>
            <a:endParaRPr lang="en-US" sz="1400" dirty="0"/>
          </a:p>
        </p:txBody>
      </p:sp>
      <p:sp>
        <p:nvSpPr>
          <p:cNvPr id="23" name="Text 21"/>
          <p:cNvSpPr/>
          <p:nvPr/>
        </p:nvSpPr>
        <p:spPr>
          <a:xfrm>
            <a:off x="4828032" y="2660904"/>
            <a:ext cx="3749040" cy="62179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Same store accessed by Python (xarray/zarr), R (</a:t>
            </a:r>
            <a:r>
              <a:rPr lang="en-US" sz="1150" dirty="0" err="1">
                <a:solidFill>
                  <a:srgbClr val="E2E8F0"/>
                </a:solidFill>
                <a:latin typeface="Calibri" pitchFamily="34" charset="0"/>
                <a:ea typeface="Calibri" pitchFamily="34" charset="-122"/>
                <a:cs typeface="Calibri" pitchFamily="34" charset="-120"/>
              </a:rPr>
              <a:t>pizzarr</a:t>
            </a:r>
            <a:r>
              <a:rPr lang="en-US" sz="1150" dirty="0">
                <a:solidFill>
                  <a:srgbClr val="E2E8F0"/>
                </a:solidFill>
                <a:latin typeface="Calibri" pitchFamily="34" charset="0"/>
                <a:ea typeface="Calibri" pitchFamily="34" charset="-122"/>
                <a:cs typeface="Calibri" pitchFamily="34" charset="-120"/>
              </a:rPr>
              <a:t>, </a:t>
            </a:r>
            <a:r>
              <a:rPr lang="en-US" sz="1150" dirty="0" err="1">
                <a:solidFill>
                  <a:srgbClr val="E2E8F0"/>
                </a:solidFill>
                <a:latin typeface="Calibri" pitchFamily="34" charset="0"/>
                <a:ea typeface="Calibri" pitchFamily="34" charset="-122"/>
                <a:cs typeface="Calibri" pitchFamily="34" charset="-120"/>
              </a:rPr>
              <a:t>zaro</a:t>
            </a:r>
            <a:r>
              <a:rPr lang="en-US" sz="1150" dirty="0">
                <a:solidFill>
                  <a:srgbClr val="E2E8F0"/>
                </a:solidFill>
                <a:latin typeface="Calibri" pitchFamily="34" charset="0"/>
                <a:ea typeface="Calibri" pitchFamily="34" charset="-122"/>
                <a:cs typeface="Calibri" pitchFamily="34" charset="-120"/>
              </a:rPr>
              <a:t>), or GDAL (Python, R, QGIS, cli).</a:t>
            </a:r>
            <a:endParaRPr lang="en-US" sz="1150" dirty="0"/>
          </a:p>
        </p:txBody>
      </p:sp>
      <p:sp>
        <p:nvSpPr>
          <p:cNvPr id="24" name="Shape 22"/>
          <p:cNvSpPr/>
          <p:nvPr/>
        </p:nvSpPr>
        <p:spPr>
          <a:xfrm>
            <a:off x="4663440" y="3483864"/>
            <a:ext cx="4160520" cy="1143000"/>
          </a:xfrm>
          <a:prstGeom prst="roundRect">
            <a:avLst>
              <a:gd name="adj" fmla="val 9600"/>
            </a:avLst>
          </a:prstGeom>
          <a:solidFill>
            <a:srgbClr val="5C2A00"/>
          </a:solidFill>
          <a:ln/>
          <a:effectLst>
            <a:outerShdw blurRad="101600" dist="38100" dir="2700000" algn="bl" rotWithShape="0">
              <a:srgbClr val="000000">
                <a:alpha val="20000"/>
              </a:srgbClr>
            </a:outerShdw>
          </a:effectLst>
        </p:spPr>
      </p:sp>
      <p:sp>
        <p:nvSpPr>
          <p:cNvPr id="25" name="Text 23"/>
          <p:cNvSpPr/>
          <p:nvPr/>
        </p:nvSpPr>
        <p:spPr>
          <a:xfrm>
            <a:off x="4828032" y="3575304"/>
            <a:ext cx="3749040" cy="347472"/>
          </a:xfrm>
          <a:prstGeom prst="rect">
            <a:avLst/>
          </a:prstGeom>
          <a:noFill/>
          <a:ln/>
        </p:spPr>
        <p:txBody>
          <a:bodyPr wrap="square"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  Intermediate forms</a:t>
            </a:r>
            <a:endParaRPr lang="en-US" sz="1400" dirty="0"/>
          </a:p>
        </p:txBody>
      </p:sp>
      <p:sp>
        <p:nvSpPr>
          <p:cNvPr id="26" name="Text 24"/>
          <p:cNvSpPr/>
          <p:nvPr/>
        </p:nvSpPr>
        <p:spPr>
          <a:xfrm>
            <a:off x="4828032" y="3922776"/>
            <a:ext cx="3749040" cy="621792"/>
          </a:xfrm>
          <a:prstGeom prst="rect">
            <a:avLst/>
          </a:prstGeom>
          <a:noFill/>
          <a:ln/>
        </p:spPr>
        <p:txBody>
          <a:bodyPr wrap="square" rtlCol="0" anchor="t"/>
          <a:lstStyle/>
          <a:p>
            <a:pPr marL="0" indent="0">
              <a:buNone/>
            </a:pPr>
            <a:r>
              <a:rPr lang="en-US" sz="1150">
                <a:solidFill>
                  <a:srgbClr val="E2E8F0"/>
                </a:solidFill>
                <a:latin typeface="Calibri" pitchFamily="34" charset="0"/>
                <a:ea typeface="Calibri" pitchFamily="34" charset="-122"/>
                <a:cs typeface="Calibri" pitchFamily="34" charset="-120"/>
              </a:rPr>
              <a:t>VRT is </a:t>
            </a:r>
            <a:r>
              <a:rPr lang="en-US" sz="1150" dirty="0">
                <a:solidFill>
                  <a:srgbClr val="E2E8F0"/>
                </a:solidFill>
                <a:latin typeface="Calibri" pitchFamily="34" charset="0"/>
                <a:ea typeface="Calibri" pitchFamily="34" charset="-122"/>
                <a:cs typeface="Calibri" pitchFamily="34" charset="-120"/>
              </a:rPr>
              <a:t>*intermediate* between array files and a virtual store, a text-based lazy-</a:t>
            </a:r>
            <a:r>
              <a:rPr lang="en-US" sz="1150" dirty="0" err="1">
                <a:solidFill>
                  <a:srgbClr val="E2E8F0"/>
                </a:solidFill>
                <a:latin typeface="Calibri" pitchFamily="34" charset="0"/>
                <a:ea typeface="Calibri" pitchFamily="34" charset="-122"/>
                <a:cs typeface="Calibri" pitchFamily="34" charset="-120"/>
              </a:rPr>
              <a:t>xarray</a:t>
            </a:r>
            <a:endParaRPr lang="en-US" sz="1150" dirty="0"/>
          </a:p>
        </p:txBody>
      </p:sp>
      <p:sp>
        <p:nvSpPr>
          <p:cNvPr id="27" name="Text 25"/>
          <p:cNvSpPr/>
          <p:nvPr/>
        </p:nvSpPr>
        <p:spPr>
          <a:xfrm>
            <a:off x="457200" y="4773168"/>
            <a:ext cx="8229600" cy="256032"/>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github.com/mdsumner  ·  hypertidy.org  ·  blocklist / zaro / gdalraster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1800" i="1" dirty="0">
                <a:solidFill>
                  <a:srgbClr val="94A3B8"/>
                </a:solidFill>
                <a:latin typeface="Calibri" pitchFamily="34" charset="0"/>
                <a:ea typeface="Calibri" pitchFamily="34" charset="-122"/>
                <a:cs typeface="Calibri" pitchFamily="34" charset="-120"/>
              </a:rPr>
              <a:t>digital integration working group</a:t>
            </a:r>
            <a:endParaRPr lang="en-US" sz="1800" dirty="0"/>
          </a:p>
        </p:txBody>
      </p:sp>
      <p:sp>
        <p:nvSpPr>
          <p:cNvPr id="3" name="Shape 1"/>
          <p:cNvSpPr/>
          <p:nvPr/>
        </p:nvSpPr>
        <p:spPr>
          <a:xfrm>
            <a:off x="457200" y="960120"/>
            <a:ext cx="8321040" cy="1143000"/>
          </a:xfrm>
          <a:prstGeom prst="roundRect">
            <a:avLst>
              <a:gd name="adj" fmla="val 8000"/>
            </a:avLst>
          </a:prstGeom>
          <a:solidFill>
            <a:srgbClr val="0D1E33"/>
          </a:solidFill>
          <a:ln w="12700">
            <a:solidFill>
              <a:srgbClr val="1E3A5F"/>
            </a:solidFill>
            <a:prstDash val="solid"/>
          </a:ln>
        </p:spPr>
      </p:sp>
      <p:sp>
        <p:nvSpPr>
          <p:cNvPr id="4" name="Text 2"/>
          <p:cNvSpPr/>
          <p:nvPr/>
        </p:nvSpPr>
        <p:spPr>
          <a:xfrm>
            <a:off x="685800" y="1051560"/>
            <a:ext cx="7863840" cy="365760"/>
          </a:xfrm>
          <a:prstGeom prst="rect">
            <a:avLst/>
          </a:prstGeom>
          <a:noFill/>
          <a:ln/>
        </p:spPr>
        <p:txBody>
          <a:bodyPr wrap="square"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how we compute in science</a:t>
            </a:r>
            <a:endParaRPr lang="en-US" sz="1600" dirty="0"/>
          </a:p>
        </p:txBody>
      </p:sp>
      <p:sp>
        <p:nvSpPr>
          <p:cNvPr id="5" name="Text 3"/>
          <p:cNvSpPr/>
          <p:nvPr/>
        </p:nvSpPr>
        <p:spPr>
          <a:xfrm>
            <a:off x="685800" y="1417320"/>
            <a:ext cx="7863840" cy="594360"/>
          </a:xfrm>
          <a:prstGeom prst="rect">
            <a:avLst/>
          </a:prstGeom>
          <a:noFill/>
          <a:ln/>
        </p:spPr>
        <p:txBody>
          <a:bodyPr wrap="square" rtlCol="0" anchor="t"/>
          <a:lstStyle/>
          <a:p>
            <a:r>
              <a:rPr lang="en-US" sz="1300" dirty="0">
                <a:solidFill>
                  <a:srgbClr val="E2E8F0"/>
                </a:solidFill>
                <a:latin typeface="Calibri" pitchFamily="34" charset="0"/>
                <a:ea typeface="Calibri" pitchFamily="34" charset="-122"/>
                <a:cs typeface="Calibri" pitchFamily="34" charset="-120"/>
              </a:rPr>
              <a:t>laptops · servers · Nectar · HPC (Pawsey / NCI) · EC2 · Docker · AADC</a:t>
            </a:r>
            <a:endParaRPr lang="en-US" sz="1300" dirty="0"/>
          </a:p>
        </p:txBody>
      </p:sp>
      <p:sp>
        <p:nvSpPr>
          <p:cNvPr id="6" name="Shape 4"/>
          <p:cNvSpPr/>
          <p:nvPr/>
        </p:nvSpPr>
        <p:spPr>
          <a:xfrm>
            <a:off x="457200" y="2286000"/>
            <a:ext cx="8321040" cy="1143000"/>
          </a:xfrm>
          <a:prstGeom prst="roundRect">
            <a:avLst>
              <a:gd name="adj" fmla="val 8000"/>
            </a:avLst>
          </a:prstGeom>
          <a:solidFill>
            <a:srgbClr val="0D1E33"/>
          </a:solidFill>
          <a:ln w="12700">
            <a:solidFill>
              <a:srgbClr val="1E3A5F"/>
            </a:solidFill>
            <a:prstDash val="solid"/>
          </a:ln>
        </p:spPr>
      </p:sp>
      <p:sp>
        <p:nvSpPr>
          <p:cNvPr id="7" name="Text 5"/>
          <p:cNvSpPr/>
          <p:nvPr/>
        </p:nvSpPr>
        <p:spPr>
          <a:xfrm>
            <a:off x="685800" y="2377440"/>
            <a:ext cx="7863840" cy="365760"/>
          </a:xfrm>
          <a:prstGeom prst="rect">
            <a:avLst/>
          </a:prstGeom>
          <a:noFill/>
          <a:ln/>
        </p:spPr>
        <p:txBody>
          <a:bodyPr wrap="square"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data access and delivery</a:t>
            </a:r>
            <a:endParaRPr lang="en-US" sz="1600" dirty="0"/>
          </a:p>
        </p:txBody>
      </p:sp>
      <p:sp>
        <p:nvSpPr>
          <p:cNvPr id="8" name="Text 6"/>
          <p:cNvSpPr/>
          <p:nvPr/>
        </p:nvSpPr>
        <p:spPr>
          <a:xfrm>
            <a:off x="685800" y="2743200"/>
            <a:ext cx="7863840" cy="594360"/>
          </a:xfrm>
          <a:prstGeom prst="rect">
            <a:avLst/>
          </a:prstGeom>
          <a:noFill/>
          <a:ln/>
        </p:spPr>
        <p:txBody>
          <a:bodyPr wrap="square" rtlCol="0" anchor="t"/>
          <a:lstStyle/>
          <a:p>
            <a:pPr marL="0" indent="0">
              <a:buNone/>
            </a:pPr>
            <a:r>
              <a:rPr lang="en-US" sz="1300" dirty="0">
                <a:solidFill>
                  <a:srgbClr val="E2E8F0"/>
                </a:solidFill>
                <a:latin typeface="Calibri" pitchFamily="34" charset="0"/>
                <a:ea typeface="Calibri" pitchFamily="34" charset="-122"/>
                <a:cs typeface="Calibri" pitchFamily="34" charset="-120"/>
              </a:rPr>
              <a:t>connection of data access to monitoring and paths to impact</a:t>
            </a:r>
            <a:endParaRPr lang="en-US" sz="1300" dirty="0"/>
          </a:p>
        </p:txBody>
      </p:sp>
      <p:sp>
        <p:nvSpPr>
          <p:cNvPr id="9" name="Shape 7"/>
          <p:cNvSpPr/>
          <p:nvPr/>
        </p:nvSpPr>
        <p:spPr>
          <a:xfrm>
            <a:off x="457200" y="3611880"/>
            <a:ext cx="8321040" cy="1143000"/>
          </a:xfrm>
          <a:prstGeom prst="roundRect">
            <a:avLst>
              <a:gd name="adj" fmla="val 8000"/>
            </a:avLst>
          </a:prstGeom>
          <a:solidFill>
            <a:srgbClr val="0D1E33"/>
          </a:solidFill>
          <a:ln w="12700">
            <a:solidFill>
              <a:srgbClr val="1E3A5F"/>
            </a:solidFill>
            <a:prstDash val="solid"/>
          </a:ln>
        </p:spPr>
      </p:sp>
      <p:sp>
        <p:nvSpPr>
          <p:cNvPr id="10" name="Text 8"/>
          <p:cNvSpPr/>
          <p:nvPr/>
        </p:nvSpPr>
        <p:spPr>
          <a:xfrm>
            <a:off x="685800" y="3703320"/>
            <a:ext cx="7863840" cy="365760"/>
          </a:xfrm>
          <a:prstGeom prst="rect">
            <a:avLst/>
          </a:prstGeom>
          <a:noFill/>
          <a:ln/>
        </p:spPr>
        <p:txBody>
          <a:bodyPr wrap="square" rtlCol="0" anchor="ctr"/>
          <a:lstStyle/>
          <a:p>
            <a:pPr marL="0" indent="0">
              <a:buNone/>
            </a:pPr>
            <a:r>
              <a:rPr lang="en-US" sz="1600" b="1" dirty="0">
                <a:solidFill>
                  <a:srgbClr val="22D3EE"/>
                </a:solidFill>
                <a:latin typeface="Calibri" pitchFamily="34" charset="0"/>
                <a:ea typeface="Calibri" pitchFamily="34" charset="-122"/>
                <a:cs typeface="Calibri" pitchFamily="34" charset="-120"/>
              </a:rPr>
              <a:t>Michael Sumner</a:t>
            </a:r>
            <a:endParaRPr lang="en-US" sz="1600" dirty="0"/>
          </a:p>
        </p:txBody>
      </p:sp>
      <p:sp>
        <p:nvSpPr>
          <p:cNvPr id="11" name="Text 9"/>
          <p:cNvSpPr/>
          <p:nvPr/>
        </p:nvSpPr>
        <p:spPr>
          <a:xfrm>
            <a:off x="685800" y="4069080"/>
            <a:ext cx="7863840" cy="594360"/>
          </a:xfrm>
          <a:prstGeom prst="rect">
            <a:avLst/>
          </a:prstGeom>
          <a:noFill/>
          <a:ln/>
        </p:spPr>
        <p:txBody>
          <a:bodyPr wrap="square" rtlCol="0" anchor="t"/>
          <a:lstStyle/>
          <a:p>
            <a:pPr marL="0" indent="0">
              <a:buNone/>
            </a:pPr>
            <a:r>
              <a:rPr lang="en-US" sz="1300" dirty="0">
                <a:solidFill>
                  <a:srgbClr val="E2E8F0"/>
                </a:solidFill>
                <a:latin typeface="Calibri" pitchFamily="34" charset="0"/>
                <a:ea typeface="Calibri" pitchFamily="34" charset="-122"/>
                <a:cs typeface="Calibri" pitchFamily="34" charset="-120"/>
              </a:rPr>
              <a:t>Research Software Engineer, IDEA</a:t>
            </a:r>
            <a:endParaRPr lang="en-US" sz="1300" dirty="0"/>
          </a:p>
          <a:p>
            <a:pPr marL="0" indent="0">
              <a:buNone/>
            </a:pPr>
            <a:r>
              <a:rPr lang="en-US" sz="1300" dirty="0">
                <a:solidFill>
                  <a:srgbClr val="E2E8F0"/>
                </a:solidFill>
                <a:latin typeface="Calibri" pitchFamily="34" charset="0"/>
                <a:ea typeface="Calibri" pitchFamily="34" charset="-122"/>
                <a:cs typeface="Calibri" pitchFamily="34" charset="-120"/>
              </a:rPr>
              <a:t>(-&gt; Terrestrial and Nearshore Biodiversity and Conservation program)</a:t>
            </a:r>
            <a:endParaRPr lang="en-US" sz="1300" dirty="0"/>
          </a:p>
        </p:txBody>
      </p:sp>
      <p:sp>
        <p:nvSpPr>
          <p:cNvPr id="12" name="Text 10"/>
          <p:cNvSpPr/>
          <p:nvPr/>
        </p:nvSpPr>
        <p:spPr>
          <a:xfrm>
            <a:off x="457200" y="4754880"/>
            <a:ext cx="8229600" cy="256032"/>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github.com/mdsumner  ·  hypertidy.org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1159</Words>
  <Application>Microsoft Office PowerPoint</Application>
  <PresentationFormat>On-screen Show (16:9)</PresentationFormat>
  <Paragraphs>169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Zarr, Chunks &amp; Virtualization</dc:title>
  <dc:subject>PptxGenJS Presentation</dc:subject>
  <dc:creator>Michael Sumner</dc:creator>
  <cp:lastModifiedBy>Michael Sumner</cp:lastModifiedBy>
  <cp:revision>12</cp:revision>
  <dcterms:created xsi:type="dcterms:W3CDTF">2026-06-10T22:20:15Z</dcterms:created>
  <dcterms:modified xsi:type="dcterms:W3CDTF">2026-06-11T01:05:34Z</dcterms:modified>
</cp:coreProperties>
</file>